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3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1" d="100"/>
          <a:sy n="211" d="100"/>
        </p:scale>
        <p:origin x="354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1723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1" y="0"/>
            <a:ext cx="1728788" cy="51435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7319" y="841772"/>
            <a:ext cx="6593681" cy="179070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7319" y="2701528"/>
            <a:ext cx="6593681" cy="1241822"/>
          </a:xfrm>
        </p:spPr>
        <p:txBody>
          <a:bodyPr>
            <a:normAutofit/>
          </a:bodyPr>
          <a:lstStyle>
            <a:lvl1pPr marL="0" indent="0" algn="l">
              <a:buNone/>
              <a:defRPr sz="1500" cap="all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08133" y="4057651"/>
            <a:ext cx="2057400" cy="273844"/>
          </a:xfrm>
        </p:spPr>
        <p:txBody>
          <a:bodyPr/>
          <a:lstStyle/>
          <a:p>
            <a:fld id="{E5CA3048-8C41-418D-BE2C-F08F60C6F57B}" type="datetimeFigureOut">
              <a:rPr lang="es-CL" smtClean="0"/>
              <a:t>10-07-2025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07318" y="4057651"/>
            <a:ext cx="3843665" cy="273844"/>
          </a:xfr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2684" y="4057650"/>
            <a:ext cx="578317" cy="273844"/>
          </a:xfrm>
        </p:spPr>
        <p:txBody>
          <a:bodyPr/>
          <a:lstStyle/>
          <a:p>
            <a:fld id="{B53C276D-C339-4742-990B-8605505625C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4271502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A3048-8C41-418D-BE2C-F08F60C6F57B}" type="datetimeFigureOut">
              <a:rPr lang="es-CL" smtClean="0"/>
              <a:t>10-07-2025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C276D-C339-4742-990B-8605505625C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9453993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064420"/>
            <a:ext cx="7429500" cy="2139553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318272"/>
            <a:ext cx="7429500" cy="1031082"/>
          </a:xfrm>
        </p:spPr>
        <p:txBody>
          <a:bodyPr>
            <a:normAutofit/>
          </a:bodyPr>
          <a:lstStyle>
            <a:lvl1pPr marL="0" indent="0">
              <a:buNone/>
              <a:defRPr sz="135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A3048-8C41-418D-BE2C-F08F60C6F57B}" type="datetimeFigureOut">
              <a:rPr lang="es-CL" smtClean="0"/>
              <a:t>10-07-2025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C276D-C339-4742-990B-8605505625C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6175761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1687114"/>
            <a:ext cx="3658792" cy="265628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687114"/>
            <a:ext cx="3656408" cy="265628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A3048-8C41-418D-BE2C-F08F60C6F57B}" type="datetimeFigureOut">
              <a:rPr lang="es-CL" smtClean="0"/>
              <a:t>10-07-2025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C276D-C339-4742-990B-8605505625C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00588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64345"/>
            <a:ext cx="7429500" cy="110847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515" y="1687115"/>
            <a:ext cx="3487337" cy="61793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2305048"/>
            <a:ext cx="3658793" cy="203835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6" y="1687114"/>
            <a:ext cx="3484952" cy="61793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305048"/>
            <a:ext cx="3656408" cy="203835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A3048-8C41-418D-BE2C-F08F60C6F57B}" type="datetimeFigureOut">
              <a:rPr lang="es-CL" smtClean="0"/>
              <a:t>10-07-2025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C276D-C339-4742-990B-8605505625C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6708705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A3048-8C41-418D-BE2C-F08F60C6F57B}" type="datetimeFigureOut">
              <a:rPr lang="es-CL" smtClean="0"/>
              <a:t>10-07-2025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C276D-C339-4742-990B-8605505625C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2074323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A3048-8C41-418D-BE2C-F08F60C6F57B}" type="datetimeFigureOut">
              <a:rPr lang="es-CL" smtClean="0"/>
              <a:t>10-07-2025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C276D-C339-4742-990B-8605505625C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1203747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457201"/>
            <a:ext cx="2892028" cy="1229913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444499"/>
            <a:ext cx="4418407" cy="3898901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1687114"/>
            <a:ext cx="2892028" cy="2656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A3048-8C41-418D-BE2C-F08F60C6F57B}" type="datetimeFigureOut">
              <a:rPr lang="es-CL" smtClean="0"/>
              <a:t>10-07-2025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C276D-C339-4742-990B-8605505625C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4752195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4450881" cy="122991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5541" y="457201"/>
            <a:ext cx="2750018" cy="38861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1687114"/>
            <a:ext cx="4450883" cy="2656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A3048-8C41-418D-BE2C-F08F60C6F57B}" type="datetimeFigureOut">
              <a:rPr lang="es-CL" smtClean="0"/>
              <a:t>10-07-2025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C276D-C339-4742-990B-8605505625C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8343815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3228499"/>
            <a:ext cx="7434266" cy="614516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454819"/>
            <a:ext cx="7434266" cy="2474834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4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3843015"/>
            <a:ext cx="7433144" cy="51185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A3048-8C41-418D-BE2C-F08F60C6F57B}" type="datetimeFigureOut">
              <a:rPr lang="es-CL" smtClean="0"/>
              <a:t>10-07-2025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C276D-C339-4742-990B-8605505625C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2035870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457200"/>
            <a:ext cx="7429466" cy="257175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314700"/>
            <a:ext cx="7428344" cy="1028699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A3048-8C41-418D-BE2C-F08F60C6F57B}" type="datetimeFigureOut">
              <a:rPr lang="es-CL" smtClean="0"/>
              <a:t>10-07-2025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C276D-C339-4742-990B-8605505625C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9380574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061322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524168"/>
            <a:ext cx="6564224" cy="41172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232439"/>
            <a:ext cx="7429502" cy="1117122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A3048-8C41-418D-BE2C-F08F60C6F57B}" type="datetimeFigureOut">
              <a:rPr lang="es-CL" smtClean="0"/>
              <a:t>10-07-2025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C276D-C339-4742-990B-8605505625C9}" type="slidenum">
              <a:rPr lang="es-CL" smtClean="0"/>
              <a:t>‹Nº›</a:t>
            </a:fld>
            <a:endParaRPr lang="es-CL"/>
          </a:p>
        </p:txBody>
      </p:sp>
      <p:sp>
        <p:nvSpPr>
          <p:cNvPr id="60" name="TextBox 59"/>
          <p:cNvSpPr txBox="1"/>
          <p:nvPr/>
        </p:nvSpPr>
        <p:spPr>
          <a:xfrm>
            <a:off x="677634" y="549295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3028" y="207372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13859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600531"/>
            <a:ext cx="7429501" cy="1883876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3493241"/>
            <a:ext cx="7428379" cy="855483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A3048-8C41-418D-BE2C-F08F60C6F57B}" type="datetimeFigureOut">
              <a:rPr lang="es-CL" smtClean="0"/>
              <a:t>10-07-2025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C276D-C339-4742-990B-8605505625C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5618699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005847"/>
            <a:ext cx="2397674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45939" y="2520197"/>
            <a:ext cx="2406551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008226"/>
            <a:ext cx="2388289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78160" y="2522576"/>
            <a:ext cx="2396873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005847"/>
            <a:ext cx="2396226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2520197"/>
            <a:ext cx="2396226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A3048-8C41-418D-BE2C-F08F60C6F57B}" type="datetimeFigureOut">
              <a:rPr lang="es-CL" smtClean="0"/>
              <a:t>10-07-2025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C276D-C339-4742-990B-8605505625C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6292073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457200"/>
            <a:ext cx="7429499" cy="14287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3303447"/>
            <a:ext cx="2396430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000249"/>
            <a:ext cx="2396430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3735644"/>
            <a:ext cx="2396430" cy="61338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3303447"/>
            <a:ext cx="2400300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000249"/>
            <a:ext cx="2399205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3735643"/>
            <a:ext cx="2400300" cy="60775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3303446"/>
            <a:ext cx="2393056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000249"/>
            <a:ext cx="2396227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3735641"/>
            <a:ext cx="2396226" cy="60775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A3048-8C41-418D-BE2C-F08F60C6F57B}" type="datetimeFigureOut">
              <a:rPr lang="es-CL" smtClean="0"/>
              <a:t>10-07-2025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C276D-C339-4742-990B-8605505625C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5291573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A3048-8C41-418D-BE2C-F08F60C6F57B}" type="datetimeFigureOut">
              <a:rPr lang="es-CL" smtClean="0"/>
              <a:t>10-07-2025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C276D-C339-4742-990B-8605505625C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7820584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457200"/>
            <a:ext cx="1503758" cy="38862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457200"/>
            <a:ext cx="5811443" cy="38862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A3048-8C41-418D-BE2C-F08F60C6F57B}" type="datetimeFigureOut">
              <a:rPr lang="es-CL" smtClean="0"/>
              <a:t>10-07-2025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C276D-C339-4742-990B-8605505625C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50117297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2136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0716" y="0"/>
            <a:ext cx="9040416" cy="51435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463888"/>
            <a:ext cx="7429499" cy="11089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1687115"/>
            <a:ext cx="7429499" cy="2656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CA3048-8C41-418D-BE2C-F08F60C6F57B}" type="datetimeFigureOut">
              <a:rPr lang="es-CL" smtClean="0"/>
              <a:t>10-07-2025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3C276D-C339-4742-990B-8605505625C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44079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  <p:sldLayoutId id="2147483855" r:id="rId12"/>
    <p:sldLayoutId id="2147483856" r:id="rId13"/>
    <p:sldLayoutId id="2147483857" r:id="rId14"/>
    <p:sldLayoutId id="2147483858" r:id="rId15"/>
    <p:sldLayoutId id="2147483859" r:id="rId16"/>
    <p:sldLayoutId id="2147483860" r:id="rId17"/>
    <p:sldLayoutId id="2147483861" r:id="rId18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625" y="481087"/>
            <a:ext cx="1428750" cy="182388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85750" y="2519288"/>
            <a:ext cx="85725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ARQUITECTURA DE SOFTWARE PARA EL SISTEMA DE INGRESO DE VEHÍCULOS EN ADUANAS DE CHILE</a:t>
            </a:r>
            <a:endParaRPr lang="en-US" sz="2025" dirty="0"/>
          </a:p>
        </p:txBody>
      </p:sp>
      <p:sp>
        <p:nvSpPr>
          <p:cNvPr id="5" name="Text 1"/>
          <p:cNvSpPr/>
          <p:nvPr/>
        </p:nvSpPr>
        <p:spPr>
          <a:xfrm>
            <a:off x="2398514" y="3505126"/>
            <a:ext cx="434694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Examen Transversal de Ingeniería de Software</a:t>
            </a:r>
            <a:endParaRPr lang="en-US" sz="1575" dirty="0"/>
          </a:p>
        </p:txBody>
      </p:sp>
      <p:sp>
        <p:nvSpPr>
          <p:cNvPr id="6" name="Text 2"/>
          <p:cNvSpPr/>
          <p:nvPr/>
        </p:nvSpPr>
        <p:spPr>
          <a:xfrm>
            <a:off x="1966513" y="4448101"/>
            <a:ext cx="521094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Integrantes: Fernando Soto, Patricio Maldonado, Daniel Godoy, Brayan Godoy</a:t>
            </a:r>
            <a:endParaRPr lang="en-US" sz="104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Introducción y Contexto</a:t>
            </a:r>
            <a:endParaRPr lang="en-US" sz="2025" dirty="0"/>
          </a:p>
        </p:txBody>
      </p:sp>
      <p:sp>
        <p:nvSpPr>
          <p:cNvPr id="5" name="Shape 2"/>
          <p:cNvSpPr/>
          <p:nvPr/>
        </p:nvSpPr>
        <p:spPr>
          <a:xfrm>
            <a:off x="285750" y="885825"/>
            <a:ext cx="28575" cy="1214438"/>
          </a:xfrm>
          <a:prstGeom prst="rect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392906" y="1001911"/>
            <a:ext cx="120860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Problema actual:</a:t>
            </a:r>
            <a:endParaRPr lang="en-US" sz="1046" dirty="0"/>
          </a:p>
        </p:txBody>
      </p:sp>
      <p:sp>
        <p:nvSpPr>
          <p:cNvPr id="7" name="Text 4"/>
          <p:cNvSpPr/>
          <p:nvPr/>
        </p:nvSpPr>
        <p:spPr>
          <a:xfrm>
            <a:off x="1601512" y="1018774"/>
            <a:ext cx="2555187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El ingreso a Chile en vehículo particular 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392906" y="1233086"/>
            <a:ext cx="3715761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implica múltiples controles manuales (Aduanas, PDI, SAG), 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392906" y="1447399"/>
            <a:ext cx="3390352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generando demoras y complicando la trazabilidad de </a:t>
            </a:r>
            <a:endParaRPr lang="en-US" sz="1046" dirty="0"/>
          </a:p>
        </p:txBody>
      </p:sp>
      <p:sp>
        <p:nvSpPr>
          <p:cNvPr id="10" name="Text 7"/>
          <p:cNvSpPr/>
          <p:nvPr/>
        </p:nvSpPr>
        <p:spPr>
          <a:xfrm>
            <a:off x="392906" y="1661711"/>
            <a:ext cx="838371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información. </a:t>
            </a:r>
            <a:endParaRPr lang="en-US" sz="1046" dirty="0"/>
          </a:p>
        </p:txBody>
      </p:sp>
      <p:sp>
        <p:nvSpPr>
          <p:cNvPr id="11" name="Text 8"/>
          <p:cNvSpPr/>
          <p:nvPr/>
        </p:nvSpPr>
        <p:spPr>
          <a:xfrm>
            <a:off x="285750" y="2252067"/>
            <a:ext cx="72481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Propósito:</a:t>
            </a:r>
            <a:endParaRPr lang="en-US" sz="1046" dirty="0"/>
          </a:p>
        </p:txBody>
      </p:sp>
      <p:sp>
        <p:nvSpPr>
          <p:cNvPr id="12" name="Text 9"/>
          <p:cNvSpPr/>
          <p:nvPr/>
        </p:nvSpPr>
        <p:spPr>
          <a:xfrm>
            <a:off x="1010562" y="2268930"/>
            <a:ext cx="2713884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Definir la arquitectura de software para el </a:t>
            </a:r>
            <a:endParaRPr lang="en-US" sz="1046" dirty="0"/>
          </a:p>
        </p:txBody>
      </p:sp>
      <p:sp>
        <p:nvSpPr>
          <p:cNvPr id="13" name="Text 10"/>
          <p:cNvSpPr/>
          <p:nvPr/>
        </p:nvSpPr>
        <p:spPr>
          <a:xfrm>
            <a:off x="285750" y="2483243"/>
            <a:ext cx="3414396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"Sistema de Ingreso de Vehículos a Chile", detallando </a:t>
            </a:r>
            <a:endParaRPr lang="en-US" sz="1046" dirty="0"/>
          </a:p>
        </p:txBody>
      </p:sp>
      <p:sp>
        <p:nvSpPr>
          <p:cNvPr id="14" name="Text 11"/>
          <p:cNvSpPr/>
          <p:nvPr/>
        </p:nvSpPr>
        <p:spPr>
          <a:xfrm>
            <a:off x="285750" y="2697555"/>
            <a:ext cx="2644955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estructura, componentes e interacciones. </a:t>
            </a:r>
            <a:endParaRPr lang="en-US" sz="1046" dirty="0"/>
          </a:p>
        </p:txBody>
      </p:sp>
      <p:sp>
        <p:nvSpPr>
          <p:cNvPr id="15" name="Text 12"/>
          <p:cNvSpPr/>
          <p:nvPr/>
        </p:nvSpPr>
        <p:spPr>
          <a:xfrm>
            <a:off x="285750" y="3037880"/>
            <a:ext cx="56407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Ámbito:</a:t>
            </a:r>
            <a:endParaRPr lang="en-US" sz="1046" dirty="0"/>
          </a:p>
        </p:txBody>
      </p:sp>
      <p:sp>
        <p:nvSpPr>
          <p:cNvPr id="16" name="Text 13"/>
          <p:cNvSpPr/>
          <p:nvPr/>
        </p:nvSpPr>
        <p:spPr>
          <a:xfrm>
            <a:off x="849827" y="3054743"/>
            <a:ext cx="3018455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Limitado a la entrada a Chile de ciudadanos en </a:t>
            </a:r>
            <a:endParaRPr lang="en-US" sz="1046" dirty="0"/>
          </a:p>
        </p:txBody>
      </p:sp>
      <p:sp>
        <p:nvSpPr>
          <p:cNvPr id="17" name="Text 14"/>
          <p:cNvSpPr/>
          <p:nvPr/>
        </p:nvSpPr>
        <p:spPr>
          <a:xfrm>
            <a:off x="285750" y="3269055"/>
            <a:ext cx="3483326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vehículos particulares por pasos fronterizos terrestres. </a:t>
            </a:r>
            <a:endParaRPr lang="en-US" sz="1046" dirty="0"/>
          </a:p>
        </p:txBody>
      </p:sp>
      <p:sp>
        <p:nvSpPr>
          <p:cNvPr id="18" name="Text 15"/>
          <p:cNvSpPr/>
          <p:nvPr/>
        </p:nvSpPr>
        <p:spPr>
          <a:xfrm>
            <a:off x="285750" y="3483368"/>
            <a:ext cx="530594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Incluye: </a:t>
            </a:r>
            <a:endParaRPr lang="en-US" sz="1046" dirty="0"/>
          </a:p>
        </p:txBody>
      </p:sp>
      <p:sp>
        <p:nvSpPr>
          <p:cNvPr id="19" name="Text 16"/>
          <p:cNvSpPr/>
          <p:nvPr/>
        </p:nvSpPr>
        <p:spPr>
          <a:xfrm>
            <a:off x="514350" y="3841449"/>
            <a:ext cx="3146695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Presentación digital del formulario de declaración</a:t>
            </a:r>
            <a:endParaRPr lang="en-US" sz="1046" dirty="0"/>
          </a:p>
        </p:txBody>
      </p:sp>
      <p:sp>
        <p:nvSpPr>
          <p:cNvPr id="20" name="Text 17"/>
          <p:cNvSpPr/>
          <p:nvPr/>
        </p:nvSpPr>
        <p:spPr>
          <a:xfrm>
            <a:off x="514350" y="4198636"/>
            <a:ext cx="2439770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Validación por funcionarios de Aduana</a:t>
            </a:r>
            <a:endParaRPr lang="en-US" sz="1046" dirty="0"/>
          </a:p>
        </p:txBody>
      </p:sp>
      <p:sp>
        <p:nvSpPr>
          <p:cNvPr id="21" name="Text 18"/>
          <p:cNvSpPr/>
          <p:nvPr/>
        </p:nvSpPr>
        <p:spPr>
          <a:xfrm>
            <a:off x="514350" y="4555824"/>
            <a:ext cx="3677289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Consultas de interoperabilidad con sistemas del SAG y PDI</a:t>
            </a:r>
            <a:endParaRPr lang="en-US" sz="1046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2766" y="1883439"/>
            <a:ext cx="3571875" cy="20052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Arquitectura del Sistema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94755"/>
            <a:ext cx="223228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Estilo arquitectónico adoptado:</a:t>
            </a:r>
            <a:endParaRPr lang="en-US" sz="1046" dirty="0"/>
          </a:p>
        </p:txBody>
      </p:sp>
      <p:sp>
        <p:nvSpPr>
          <p:cNvPr id="5" name="Text 2"/>
          <p:cNvSpPr/>
          <p:nvPr/>
        </p:nvSpPr>
        <p:spPr>
          <a:xfrm>
            <a:off x="514350" y="1268805"/>
            <a:ext cx="1657505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Arquitectura en capas</a:t>
            </a:r>
            <a:endParaRPr lang="en-US" sz="1046" dirty="0"/>
          </a:p>
        </p:txBody>
      </p:sp>
      <p:sp>
        <p:nvSpPr>
          <p:cNvPr id="6" name="Text 3"/>
          <p:cNvSpPr/>
          <p:nvPr/>
        </p:nvSpPr>
        <p:spPr>
          <a:xfrm>
            <a:off x="2086980" y="1268805"/>
            <a:ext cx="1891543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  para la application principal.</a:t>
            </a:r>
            <a:endParaRPr lang="en-US" sz="1046" dirty="0"/>
          </a:p>
        </p:txBody>
      </p:sp>
      <p:sp>
        <p:nvSpPr>
          <p:cNvPr id="7" name="Text 4"/>
          <p:cNvSpPr/>
          <p:nvPr/>
        </p:nvSpPr>
        <p:spPr>
          <a:xfrm>
            <a:off x="514350" y="1625993"/>
            <a:ext cx="2911053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Arquitectura Orientada a Servicios (SOA)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514350" y="1733149"/>
            <a:ext cx="3228835" cy="1609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para comunicación con otras agencias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285750" y="2180630"/>
            <a:ext cx="91640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Justificación:</a:t>
            </a:r>
            <a:endParaRPr lang="en-US" sz="1046" dirty="0"/>
          </a:p>
        </p:txBody>
      </p:sp>
      <p:sp>
        <p:nvSpPr>
          <p:cNvPr id="10" name="Text 7"/>
          <p:cNvSpPr/>
          <p:nvPr/>
        </p:nvSpPr>
        <p:spPr>
          <a:xfrm>
            <a:off x="1202159" y="2197493"/>
            <a:ext cx="2523127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Separación clara de responsabilidades, </a:t>
            </a:r>
            <a:endParaRPr lang="en-US" sz="1046" dirty="0"/>
          </a:p>
        </p:txBody>
      </p:sp>
      <p:sp>
        <p:nvSpPr>
          <p:cNvPr id="11" name="Text 8"/>
          <p:cNvSpPr/>
          <p:nvPr/>
        </p:nvSpPr>
        <p:spPr>
          <a:xfrm>
            <a:off x="285750" y="2411805"/>
            <a:ext cx="3100208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mantenibilidad, desacoplamiento entre sistemas </a:t>
            </a:r>
            <a:endParaRPr lang="en-US" sz="1046" dirty="0"/>
          </a:p>
        </p:txBody>
      </p:sp>
      <p:sp>
        <p:nvSpPr>
          <p:cNvPr id="12" name="Text 9"/>
          <p:cNvSpPr/>
          <p:nvPr/>
        </p:nvSpPr>
        <p:spPr>
          <a:xfrm>
            <a:off x="285750" y="2626118"/>
            <a:ext cx="2204130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gubernamentales independientes. </a:t>
            </a:r>
            <a:endParaRPr lang="en-US" sz="1046" dirty="0"/>
          </a:p>
        </p:txBody>
      </p:sp>
      <p:sp>
        <p:nvSpPr>
          <p:cNvPr id="13" name="Text 10"/>
          <p:cNvSpPr/>
          <p:nvPr/>
        </p:nvSpPr>
        <p:spPr>
          <a:xfrm>
            <a:off x="285750" y="2966442"/>
            <a:ext cx="211014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Patrones de diseño aplicados:</a:t>
            </a:r>
            <a:endParaRPr lang="en-US" sz="1046" dirty="0"/>
          </a:p>
        </p:txBody>
      </p:sp>
      <p:sp>
        <p:nvSpPr>
          <p:cNvPr id="15" name="Shape 12"/>
          <p:cNvSpPr/>
          <p:nvPr/>
        </p:nvSpPr>
        <p:spPr>
          <a:xfrm>
            <a:off x="285750" y="3314700"/>
            <a:ext cx="28575" cy="764381"/>
          </a:xfrm>
          <a:prstGeom prst="rect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/>
          <p:nvPr/>
        </p:nvSpPr>
        <p:spPr>
          <a:xfrm>
            <a:off x="392906" y="3421856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Modelo-Vista-Controlador (MVC)</a:t>
            </a:r>
            <a:endParaRPr lang="en-US" sz="837" dirty="0"/>
          </a:p>
        </p:txBody>
      </p:sp>
      <p:sp>
        <p:nvSpPr>
          <p:cNvPr id="17" name="Text 14"/>
          <p:cNvSpPr/>
          <p:nvPr/>
        </p:nvSpPr>
        <p:spPr>
          <a:xfrm>
            <a:off x="392906" y="3671657"/>
            <a:ext cx="3964781" cy="257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Estructura la aplicación web, separando interfaz (Vista), lógica de negocio (Controlador) y datos (Modelo).</a:t>
            </a:r>
            <a:endParaRPr lang="en-US" sz="837" dirty="0"/>
          </a:p>
        </p:txBody>
      </p:sp>
      <p:sp>
        <p:nvSpPr>
          <p:cNvPr id="19" name="Shape 16"/>
          <p:cNvSpPr/>
          <p:nvPr/>
        </p:nvSpPr>
        <p:spPr>
          <a:xfrm>
            <a:off x="285750" y="4221956"/>
            <a:ext cx="28575" cy="764381"/>
          </a:xfrm>
          <a:prstGeom prst="rect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7"/>
          <p:cNvSpPr/>
          <p:nvPr/>
        </p:nvSpPr>
        <p:spPr>
          <a:xfrm>
            <a:off x="392906" y="4329113"/>
            <a:ext cx="39647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Access Object (DAO)</a:t>
            </a:r>
            <a:endParaRPr lang="en-US" sz="837" dirty="0"/>
          </a:p>
        </p:txBody>
      </p:sp>
      <p:sp>
        <p:nvSpPr>
          <p:cNvPr id="21" name="Text 18"/>
          <p:cNvSpPr/>
          <p:nvPr/>
        </p:nvSpPr>
        <p:spPr>
          <a:xfrm>
            <a:off x="392906" y="4578913"/>
            <a:ext cx="3964781" cy="257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Abstrae y encapsula el acceso a la base de datos, gestionando conexiones y operaciones de persistencia.</a:t>
            </a:r>
            <a:endParaRPr lang="en-US" sz="837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2766" y="1786934"/>
            <a:ext cx="3571875" cy="22371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Modelo 4+1: Vista de Escenario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911618"/>
            <a:ext cx="1373774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Esta vista describe la </a:t>
            </a:r>
            <a:endParaRPr lang="en-US" sz="1046" dirty="0"/>
          </a:p>
        </p:txBody>
      </p:sp>
      <p:sp>
        <p:nvSpPr>
          <p:cNvPr id="5" name="Text 2"/>
          <p:cNvSpPr/>
          <p:nvPr/>
        </p:nvSpPr>
        <p:spPr>
          <a:xfrm>
            <a:off x="1710370" y="894755"/>
            <a:ext cx="183438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funcionalidad del sistema</a:t>
            </a:r>
            <a:endParaRPr lang="en-US" sz="1046" dirty="0"/>
          </a:p>
        </p:txBody>
      </p:sp>
      <p:sp>
        <p:nvSpPr>
          <p:cNvPr id="6" name="Text 3"/>
          <p:cNvSpPr/>
          <p:nvPr/>
        </p:nvSpPr>
        <p:spPr>
          <a:xfrm>
            <a:off x="3544751" y="911618"/>
            <a:ext cx="594715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desde la </a:t>
            </a:r>
            <a:endParaRPr lang="en-US" sz="1046" dirty="0"/>
          </a:p>
        </p:txBody>
      </p:sp>
      <p:sp>
        <p:nvSpPr>
          <p:cNvPr id="7" name="Text 4"/>
          <p:cNvSpPr/>
          <p:nvPr/>
        </p:nvSpPr>
        <p:spPr>
          <a:xfrm>
            <a:off x="285750" y="1125930"/>
            <a:ext cx="3632405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perspectiva de los usuarios finales a través de escenarios 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285750" y="1340243"/>
            <a:ext cx="387927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clave</a:t>
            </a: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 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285750" y="1635919"/>
            <a:ext cx="417909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Actores Principales</a:t>
            </a:r>
            <a:endParaRPr lang="en-US" sz="13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996678"/>
            <a:ext cx="112514" cy="1285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9702" y="1988483"/>
            <a:ext cx="1200650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Ciudadano Entrante </a:t>
            </a:r>
            <a:endParaRPr lang="en-US" sz="942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5297" y="1996678"/>
            <a:ext cx="112514" cy="1285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559248" y="1988483"/>
            <a:ext cx="1064394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Agente Aduanero </a:t>
            </a:r>
            <a:endParaRPr lang="en-US" sz="942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2246709"/>
            <a:ext cx="128588" cy="1285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85775" y="2238515"/>
            <a:ext cx="772647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Sistema SAG </a:t>
            </a:r>
            <a:endParaRPr lang="en-US" sz="942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5297" y="2246709"/>
            <a:ext cx="128588" cy="1285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575322" y="2238515"/>
            <a:ext cx="745397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Sistema PDI </a:t>
            </a:r>
            <a:endParaRPr lang="en-US" sz="942" dirty="0"/>
          </a:p>
        </p:txBody>
      </p:sp>
      <p:sp>
        <p:nvSpPr>
          <p:cNvPr id="18" name="Text 11"/>
          <p:cNvSpPr/>
          <p:nvPr/>
        </p:nvSpPr>
        <p:spPr>
          <a:xfrm>
            <a:off x="285750" y="2571750"/>
            <a:ext cx="417909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Casos de Uso Principales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514350" y="2926155"/>
            <a:ext cx="524182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CU-001</a:t>
            </a: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</a:t>
            </a:r>
            <a:endParaRPr lang="en-US" sz="1046" dirty="0"/>
          </a:p>
        </p:txBody>
      </p:sp>
      <p:sp>
        <p:nvSpPr>
          <p:cNvPr id="20" name="Text 13"/>
          <p:cNvSpPr/>
          <p:nvPr/>
        </p:nvSpPr>
        <p:spPr>
          <a:xfrm>
            <a:off x="1049452" y="2926155"/>
            <a:ext cx="2896627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Realizar declaración de ingreso de vehículo</a:t>
            </a:r>
            <a:endParaRPr lang="en-US" sz="1046" dirty="0"/>
          </a:p>
        </p:txBody>
      </p:sp>
      <p:sp>
        <p:nvSpPr>
          <p:cNvPr id="21" name="Text 14"/>
          <p:cNvSpPr/>
          <p:nvPr/>
        </p:nvSpPr>
        <p:spPr>
          <a:xfrm>
            <a:off x="514350" y="3248517"/>
            <a:ext cx="2380460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CU-002: Validar formulario de ingreso</a:t>
            </a:r>
            <a:endParaRPr lang="en-US" sz="1046" dirty="0"/>
          </a:p>
        </p:txBody>
      </p:sp>
      <p:sp>
        <p:nvSpPr>
          <p:cNvPr id="22" name="Text 15"/>
          <p:cNvSpPr/>
          <p:nvPr/>
        </p:nvSpPr>
        <p:spPr>
          <a:xfrm>
            <a:off x="514350" y="3569986"/>
            <a:ext cx="2160848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CU-003: Validar control migratorio</a:t>
            </a:r>
            <a:endParaRPr lang="en-US" sz="1046" dirty="0"/>
          </a:p>
        </p:txBody>
      </p:sp>
      <p:sp>
        <p:nvSpPr>
          <p:cNvPr id="23" name="Text 16"/>
          <p:cNvSpPr/>
          <p:nvPr/>
        </p:nvSpPr>
        <p:spPr>
          <a:xfrm>
            <a:off x="514350" y="3891455"/>
            <a:ext cx="2476640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CU-004: Validar control fitozoosanitario</a:t>
            </a:r>
            <a:endParaRPr lang="en-US" sz="1046" dirty="0"/>
          </a:p>
        </p:txBody>
      </p:sp>
      <p:sp>
        <p:nvSpPr>
          <p:cNvPr id="24" name="Text 17"/>
          <p:cNvSpPr/>
          <p:nvPr/>
        </p:nvSpPr>
        <p:spPr>
          <a:xfrm>
            <a:off x="514350" y="4212924"/>
            <a:ext cx="2404504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CU-005: Registrar revisión de equipaje</a:t>
            </a:r>
            <a:endParaRPr lang="en-US" sz="1046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5386" y="1093007"/>
            <a:ext cx="2483123" cy="32146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370666" y="2464451"/>
            <a:ext cx="1279196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i="1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Diagrama de Casos de Uso</a:t>
            </a:r>
            <a:endParaRPr lang="en-US" sz="83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Modelo 4+1: Vista Lógica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911134"/>
            <a:ext cx="417909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Propósito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85750" y="1283093"/>
            <a:ext cx="3603551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Describir la funcionalidad del sistema en términos de su </a:t>
            </a:r>
            <a:endParaRPr lang="en-US" sz="1046" dirty="0"/>
          </a:p>
        </p:txBody>
      </p:sp>
      <p:sp>
        <p:nvSpPr>
          <p:cNvPr id="6" name="Text 3"/>
          <p:cNvSpPr/>
          <p:nvPr/>
        </p:nvSpPr>
        <p:spPr>
          <a:xfrm>
            <a:off x="302465" y="1424793"/>
            <a:ext cx="1324080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estructura estática:</a:t>
            </a:r>
            <a:endParaRPr lang="en-US" sz="1046" dirty="0"/>
          </a:p>
        </p:txBody>
      </p:sp>
      <p:sp>
        <p:nvSpPr>
          <p:cNvPr id="7" name="Text 4"/>
          <p:cNvSpPr/>
          <p:nvPr/>
        </p:nvSpPr>
        <p:spPr>
          <a:xfrm>
            <a:off x="1645797" y="1616273"/>
            <a:ext cx="3831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314776" y="1729577"/>
            <a:ext cx="399148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Clases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302465" y="1949694"/>
            <a:ext cx="583493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Atributos</a:t>
            </a:r>
            <a:endParaRPr lang="en-US" sz="1046" dirty="0"/>
          </a:p>
        </p:txBody>
      </p:sp>
      <p:sp>
        <p:nvSpPr>
          <p:cNvPr id="10" name="Text 7"/>
          <p:cNvSpPr/>
          <p:nvPr/>
        </p:nvSpPr>
        <p:spPr>
          <a:xfrm>
            <a:off x="285750" y="2146250"/>
            <a:ext cx="796693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Operaciones</a:t>
            </a:r>
            <a:endParaRPr lang="en-US" sz="1046" dirty="0"/>
          </a:p>
        </p:txBody>
      </p:sp>
      <p:sp>
        <p:nvSpPr>
          <p:cNvPr id="11" name="Text 8"/>
          <p:cNvSpPr/>
          <p:nvPr/>
        </p:nvSpPr>
        <p:spPr>
          <a:xfrm>
            <a:off x="285750" y="2342806"/>
            <a:ext cx="673261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Relaciones</a:t>
            </a:r>
            <a:endParaRPr lang="en-US" sz="1046" dirty="0"/>
          </a:p>
        </p:txBody>
      </p:sp>
      <p:sp>
        <p:nvSpPr>
          <p:cNvPr id="12" name="Text 9"/>
          <p:cNvSpPr/>
          <p:nvPr/>
        </p:nvSpPr>
        <p:spPr>
          <a:xfrm>
            <a:off x="521396" y="2584190"/>
            <a:ext cx="417909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Descripción del Diagrama de Clases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343849" y="2999970"/>
            <a:ext cx="3529812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El diagrama modela la estructura de datos del sistema, </a:t>
            </a:r>
            <a:endParaRPr lang="en-US" sz="1046" dirty="0"/>
          </a:p>
        </p:txBody>
      </p:sp>
      <p:sp>
        <p:nvSpPr>
          <p:cNvPr id="14" name="Text 11"/>
          <p:cNvSpPr/>
          <p:nvPr/>
        </p:nvSpPr>
        <p:spPr>
          <a:xfrm>
            <a:off x="229534" y="3248940"/>
            <a:ext cx="1976503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centrando el diseño en la clase </a:t>
            </a:r>
            <a:endParaRPr lang="en-US" sz="1046" dirty="0"/>
          </a:p>
        </p:txBody>
      </p:sp>
      <p:sp>
        <p:nvSpPr>
          <p:cNvPr id="15" name="Text 12"/>
          <p:cNvSpPr/>
          <p:nvPr/>
        </p:nvSpPr>
        <p:spPr>
          <a:xfrm>
            <a:off x="2203317" y="3232076"/>
            <a:ext cx="146089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FormularioTemporal</a:t>
            </a:r>
            <a:endParaRPr lang="en-US" sz="1046" dirty="0"/>
          </a:p>
        </p:txBody>
      </p:sp>
      <p:sp>
        <p:nvSpPr>
          <p:cNvPr id="16" name="Text 13"/>
          <p:cNvSpPr/>
          <p:nvPr/>
        </p:nvSpPr>
        <p:spPr>
          <a:xfrm>
            <a:off x="3606964" y="3248940"/>
            <a:ext cx="368691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. Esta </a:t>
            </a:r>
            <a:endParaRPr lang="en-US" sz="1046" dirty="0"/>
          </a:p>
        </p:txBody>
      </p:sp>
      <p:sp>
        <p:nvSpPr>
          <p:cNvPr id="17" name="Text 14"/>
          <p:cNvSpPr/>
          <p:nvPr/>
        </p:nvSpPr>
        <p:spPr>
          <a:xfrm>
            <a:off x="214697" y="3545268"/>
            <a:ext cx="973023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clase principal: </a:t>
            </a:r>
            <a:endParaRPr lang="en-US" sz="1046" dirty="0"/>
          </a:p>
        </p:txBody>
      </p:sp>
      <p:sp>
        <p:nvSpPr>
          <p:cNvPr id="18" name="Text 15"/>
          <p:cNvSpPr/>
          <p:nvPr/>
        </p:nvSpPr>
        <p:spPr>
          <a:xfrm>
            <a:off x="491104" y="3799612"/>
            <a:ext cx="3672480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Agrupa toda la información de una declaración de ingreso</a:t>
            </a:r>
            <a:endParaRPr lang="en-US" sz="1046" dirty="0"/>
          </a:p>
        </p:txBody>
      </p:sp>
      <p:sp>
        <p:nvSpPr>
          <p:cNvPr id="19" name="Text 16"/>
          <p:cNvSpPr/>
          <p:nvPr/>
        </p:nvSpPr>
        <p:spPr>
          <a:xfrm>
            <a:off x="364610" y="4079442"/>
            <a:ext cx="1082027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Se asocia con un </a:t>
            </a:r>
            <a:endParaRPr lang="en-US" sz="1046" dirty="0"/>
          </a:p>
        </p:txBody>
      </p:sp>
      <p:sp>
        <p:nvSpPr>
          <p:cNvPr id="20" name="Text 17"/>
          <p:cNvSpPr/>
          <p:nvPr/>
        </p:nvSpPr>
        <p:spPr>
          <a:xfrm>
            <a:off x="1439118" y="4065966"/>
            <a:ext cx="80383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Propietario</a:t>
            </a:r>
            <a:endParaRPr lang="en-US" sz="1046" dirty="0"/>
          </a:p>
        </p:txBody>
      </p:sp>
      <p:sp>
        <p:nvSpPr>
          <p:cNvPr id="21" name="Text 18"/>
          <p:cNvSpPr/>
          <p:nvPr/>
        </p:nvSpPr>
        <p:spPr>
          <a:xfrm>
            <a:off x="2191333" y="4082829"/>
            <a:ext cx="270908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, un </a:t>
            </a:r>
            <a:endParaRPr lang="en-US" sz="1046" dirty="0"/>
          </a:p>
        </p:txBody>
      </p:sp>
      <p:sp>
        <p:nvSpPr>
          <p:cNvPr id="22" name="Text 19"/>
          <p:cNvSpPr/>
          <p:nvPr/>
        </p:nvSpPr>
        <p:spPr>
          <a:xfrm>
            <a:off x="2476939" y="4062578"/>
            <a:ext cx="61123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Vehículo</a:t>
            </a:r>
            <a:endParaRPr lang="en-US" sz="1046" dirty="0"/>
          </a:p>
        </p:txBody>
      </p:sp>
      <p:sp>
        <p:nvSpPr>
          <p:cNvPr id="23" name="Text 20"/>
          <p:cNvSpPr/>
          <p:nvPr/>
        </p:nvSpPr>
        <p:spPr>
          <a:xfrm>
            <a:off x="343849" y="4210909"/>
            <a:ext cx="2995017" cy="1609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y, opcionalmente, un conductor </a:t>
            </a:r>
            <a:endParaRPr lang="en-US" sz="1046" dirty="0"/>
          </a:p>
        </p:txBody>
      </p:sp>
      <p:sp>
        <p:nvSpPr>
          <p:cNvPr id="24" name="Text 21"/>
          <p:cNvSpPr/>
          <p:nvPr/>
        </p:nvSpPr>
        <p:spPr>
          <a:xfrm>
            <a:off x="2396558" y="4194046"/>
            <a:ext cx="78625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Autorizado</a:t>
            </a:r>
            <a:endParaRPr lang="en-US" sz="1046" dirty="0"/>
          </a:p>
        </p:txBody>
      </p:sp>
      <p:sp>
        <p:nvSpPr>
          <p:cNvPr id="25" name="Text 22"/>
          <p:cNvSpPr/>
          <p:nvPr/>
        </p:nvSpPr>
        <p:spPr>
          <a:xfrm>
            <a:off x="358125" y="4375168"/>
            <a:ext cx="1074012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Se vincula con la </a:t>
            </a:r>
            <a:endParaRPr lang="en-US" sz="1046" dirty="0"/>
          </a:p>
        </p:txBody>
      </p:sp>
      <p:sp>
        <p:nvSpPr>
          <p:cNvPr id="26" name="Text 23"/>
          <p:cNvSpPr/>
          <p:nvPr/>
        </p:nvSpPr>
        <p:spPr>
          <a:xfrm>
            <a:off x="1439118" y="4358304"/>
            <a:ext cx="54937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Aduana</a:t>
            </a:r>
            <a:endParaRPr lang="en-US" sz="1046" dirty="0"/>
          </a:p>
        </p:txBody>
      </p:sp>
      <p:sp>
        <p:nvSpPr>
          <p:cNvPr id="27" name="Text 24"/>
          <p:cNvSpPr/>
          <p:nvPr/>
        </p:nvSpPr>
        <p:spPr>
          <a:xfrm>
            <a:off x="1944075" y="4375167"/>
            <a:ext cx="1821011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donde ocurre el trámite y el </a:t>
            </a:r>
            <a:endParaRPr lang="en-US" sz="1046" dirty="0"/>
          </a:p>
        </p:txBody>
      </p:sp>
      <p:sp>
        <p:nvSpPr>
          <p:cNvPr id="28" name="Text 25"/>
          <p:cNvSpPr/>
          <p:nvPr/>
        </p:nvSpPr>
        <p:spPr>
          <a:xfrm>
            <a:off x="349186" y="4480410"/>
            <a:ext cx="84868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Funcionario</a:t>
            </a:r>
            <a:endParaRPr lang="en-US" sz="1046" dirty="0"/>
          </a:p>
        </p:txBody>
      </p:sp>
      <p:sp>
        <p:nvSpPr>
          <p:cNvPr id="29" name="Text 26"/>
          <p:cNvSpPr/>
          <p:nvPr/>
        </p:nvSpPr>
        <p:spPr>
          <a:xfrm>
            <a:off x="1127976" y="4497272"/>
            <a:ext cx="868828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que lo valida.</a:t>
            </a:r>
            <a:endParaRPr lang="en-US" sz="1046" dirty="0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156" y="885825"/>
            <a:ext cx="2483123" cy="321466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162279" y="2400042"/>
            <a:ext cx="1695971" cy="257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i="1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Diagrama de Clases del Sistema de Ingreso de Vehículos</a:t>
            </a:r>
            <a:endParaRPr lang="en-US" sz="83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Modelo 4+1: Vista de Implementación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1028700"/>
            <a:ext cx="417909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Propósito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85750" y="1418824"/>
            <a:ext cx="2713884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Describir cómo se organiza el software en </a:t>
            </a:r>
            <a:endParaRPr lang="en-US" sz="1046" dirty="0"/>
          </a:p>
        </p:txBody>
      </p:sp>
      <p:sp>
        <p:nvSpPr>
          <p:cNvPr id="6" name="Text 3"/>
          <p:cNvSpPr/>
          <p:nvPr/>
        </p:nvSpPr>
        <p:spPr>
          <a:xfrm>
            <a:off x="3126981" y="1401961"/>
            <a:ext cx="61609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módulos</a:t>
            </a:r>
            <a:endParaRPr lang="en-US" sz="1046" dirty="0"/>
          </a:p>
        </p:txBody>
      </p:sp>
      <p:sp>
        <p:nvSpPr>
          <p:cNvPr id="7" name="Text 4"/>
          <p:cNvSpPr/>
          <p:nvPr/>
        </p:nvSpPr>
        <p:spPr>
          <a:xfrm>
            <a:off x="3743074" y="1418824"/>
            <a:ext cx="496931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dentro</a:t>
            </a: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285750" y="1633136"/>
            <a:ext cx="1678345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del entorno de desarrollo. 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285750" y="1964531"/>
            <a:ext cx="417909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Diagrama de Componente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285750" y="2354655"/>
            <a:ext cx="934551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Representa la </a:t>
            </a:r>
            <a:endParaRPr lang="en-US" sz="1046" dirty="0"/>
          </a:p>
        </p:txBody>
      </p:sp>
      <p:sp>
        <p:nvSpPr>
          <p:cNvPr id="11" name="Text 8"/>
          <p:cNvSpPr/>
          <p:nvPr/>
        </p:nvSpPr>
        <p:spPr>
          <a:xfrm>
            <a:off x="1240166" y="2337792"/>
            <a:ext cx="136317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arquitectura lógica</a:t>
            </a:r>
            <a:endParaRPr lang="en-US" sz="1046" dirty="0"/>
          </a:p>
        </p:txBody>
      </p:sp>
      <p:sp>
        <p:nvSpPr>
          <p:cNvPr id="12" name="Text 9"/>
          <p:cNvSpPr/>
          <p:nvPr/>
        </p:nvSpPr>
        <p:spPr>
          <a:xfrm>
            <a:off x="2603339" y="2354655"/>
            <a:ext cx="1542089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del proceso de ingreso, </a:t>
            </a:r>
            <a:endParaRPr lang="en-US" sz="1046" dirty="0"/>
          </a:p>
        </p:txBody>
      </p:sp>
      <p:sp>
        <p:nvSpPr>
          <p:cNvPr id="13" name="Text 10"/>
          <p:cNvSpPr/>
          <p:nvPr/>
        </p:nvSpPr>
        <p:spPr>
          <a:xfrm>
            <a:off x="285750" y="2568968"/>
            <a:ext cx="772647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mostrando: </a:t>
            </a:r>
            <a:endParaRPr lang="en-US" sz="1046" dirty="0"/>
          </a:p>
        </p:txBody>
      </p:sp>
      <p:sp>
        <p:nvSpPr>
          <p:cNvPr id="14" name="Text 11"/>
          <p:cNvSpPr/>
          <p:nvPr/>
        </p:nvSpPr>
        <p:spPr>
          <a:xfrm>
            <a:off x="514350" y="2927049"/>
            <a:ext cx="3374322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Las principales entidades institucionales involucradas</a:t>
            </a:r>
            <a:endParaRPr lang="en-US" sz="1046" dirty="0"/>
          </a:p>
        </p:txBody>
      </p:sp>
      <p:sp>
        <p:nvSpPr>
          <p:cNvPr id="15" name="Text 12"/>
          <p:cNvSpPr/>
          <p:nvPr/>
        </p:nvSpPr>
        <p:spPr>
          <a:xfrm>
            <a:off x="514350" y="3284236"/>
            <a:ext cx="3302186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Interacciones entre sistemas tecnológicos asociados</a:t>
            </a:r>
            <a:endParaRPr lang="en-US" sz="1046" dirty="0"/>
          </a:p>
        </p:txBody>
      </p:sp>
      <p:sp>
        <p:nvSpPr>
          <p:cNvPr id="16" name="Text 13"/>
          <p:cNvSpPr/>
          <p:nvPr/>
        </p:nvSpPr>
        <p:spPr>
          <a:xfrm>
            <a:off x="285750" y="3614738"/>
            <a:ext cx="417909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Diagrama de Paquete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285750" y="4004861"/>
            <a:ext cx="2725105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La organización del código fuente sigue el </a:t>
            </a:r>
            <a:endParaRPr lang="en-US" sz="1046" dirty="0"/>
          </a:p>
        </p:txBody>
      </p:sp>
      <p:sp>
        <p:nvSpPr>
          <p:cNvPr id="18" name="Text 15"/>
          <p:cNvSpPr/>
          <p:nvPr/>
        </p:nvSpPr>
        <p:spPr>
          <a:xfrm>
            <a:off x="3010855" y="3999425"/>
            <a:ext cx="833562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patron MVC:</a:t>
            </a:r>
            <a:endParaRPr lang="en-US" sz="1046" dirty="0"/>
          </a:p>
        </p:txBody>
      </p:sp>
      <p:sp>
        <p:nvSpPr>
          <p:cNvPr id="20" name="Text 17"/>
          <p:cNvSpPr/>
          <p:nvPr/>
        </p:nvSpPr>
        <p:spPr>
          <a:xfrm>
            <a:off x="517267" y="4237720"/>
            <a:ext cx="378309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Vista</a:t>
            </a:r>
            <a:r>
              <a:rPr lang="en-US" sz="1046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</a:t>
            </a:r>
            <a:endParaRPr lang="en-US" sz="1046" dirty="0"/>
          </a:p>
        </p:txBody>
      </p:sp>
      <p:sp>
        <p:nvSpPr>
          <p:cNvPr id="21" name="Text 18"/>
          <p:cNvSpPr/>
          <p:nvPr/>
        </p:nvSpPr>
        <p:spPr>
          <a:xfrm>
            <a:off x="895576" y="4231751"/>
            <a:ext cx="2805255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Archivos de presentación (CSS, JS, plantillas)</a:t>
            </a:r>
            <a:endParaRPr lang="en-US" sz="1046" dirty="0"/>
          </a:p>
        </p:txBody>
      </p:sp>
      <p:sp>
        <p:nvSpPr>
          <p:cNvPr id="22" name="Text 19"/>
          <p:cNvSpPr/>
          <p:nvPr/>
        </p:nvSpPr>
        <p:spPr>
          <a:xfrm>
            <a:off x="492658" y="4425857"/>
            <a:ext cx="854401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Controlador:</a:t>
            </a:r>
            <a:endParaRPr lang="en-US" sz="1046" dirty="0"/>
          </a:p>
        </p:txBody>
      </p:sp>
      <p:sp>
        <p:nvSpPr>
          <p:cNvPr id="23" name="Text 20"/>
          <p:cNvSpPr/>
          <p:nvPr/>
        </p:nvSpPr>
        <p:spPr>
          <a:xfrm>
            <a:off x="1347059" y="4435373"/>
            <a:ext cx="1449115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Lógica de la aplicación</a:t>
            </a:r>
            <a:endParaRPr lang="en-US" sz="1046" dirty="0"/>
          </a:p>
        </p:txBody>
      </p:sp>
      <p:sp>
        <p:nvSpPr>
          <p:cNvPr id="24" name="Text 21"/>
          <p:cNvSpPr/>
          <p:nvPr/>
        </p:nvSpPr>
        <p:spPr>
          <a:xfrm>
            <a:off x="514350" y="4613177"/>
            <a:ext cx="541815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Modelo:</a:t>
            </a:r>
            <a:endParaRPr lang="en-US" sz="1046" dirty="0"/>
          </a:p>
        </p:txBody>
      </p:sp>
      <p:sp>
        <p:nvSpPr>
          <p:cNvPr id="25" name="Text 22"/>
          <p:cNvSpPr/>
          <p:nvPr/>
        </p:nvSpPr>
        <p:spPr>
          <a:xfrm>
            <a:off x="1058397" y="4613176"/>
            <a:ext cx="2441374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Clases y DAO para interacción con BD.</a:t>
            </a:r>
            <a:endParaRPr lang="en-US" sz="1046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1230" y="830639"/>
            <a:ext cx="3346817" cy="41928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Modelo 4+1: Vista de Procesos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1028700"/>
            <a:ext cx="417909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Propósito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85750" y="1418824"/>
            <a:ext cx="852798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Describir los </a:t>
            </a:r>
            <a:endParaRPr lang="en-US" sz="1046" dirty="0"/>
          </a:p>
        </p:txBody>
      </p:sp>
      <p:sp>
        <p:nvSpPr>
          <p:cNvPr id="6" name="Text 3"/>
          <p:cNvSpPr/>
          <p:nvPr/>
        </p:nvSpPr>
        <p:spPr>
          <a:xfrm>
            <a:off x="1153297" y="1401961"/>
            <a:ext cx="139518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aspectos dinámicos</a:t>
            </a:r>
            <a:endParaRPr lang="en-US" sz="1046" dirty="0"/>
          </a:p>
        </p:txBody>
      </p:sp>
      <p:sp>
        <p:nvSpPr>
          <p:cNvPr id="7" name="Text 4"/>
          <p:cNvSpPr/>
          <p:nvPr/>
        </p:nvSpPr>
        <p:spPr>
          <a:xfrm>
            <a:off x="2548477" y="1418824"/>
            <a:ext cx="1247136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del sistema, como: 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514350" y="1776905"/>
            <a:ext cx="1101264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Flujos de proceso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514350" y="2134092"/>
            <a:ext cx="843180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Concurrencia</a:t>
            </a:r>
            <a:endParaRPr lang="en-US" sz="1046" dirty="0"/>
          </a:p>
        </p:txBody>
      </p:sp>
      <p:sp>
        <p:nvSpPr>
          <p:cNvPr id="10" name="Text 7"/>
          <p:cNvSpPr/>
          <p:nvPr/>
        </p:nvSpPr>
        <p:spPr>
          <a:xfrm>
            <a:off x="514350" y="2491280"/>
            <a:ext cx="2104743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Comunicación</a:t>
            </a: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entre</a:t>
            </a: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subprocesos</a:t>
            </a:r>
            <a:endParaRPr lang="en-US" sz="1046" dirty="0"/>
          </a:p>
        </p:txBody>
      </p:sp>
      <p:sp>
        <p:nvSpPr>
          <p:cNvPr id="11" name="Text 8"/>
          <p:cNvSpPr/>
          <p:nvPr/>
        </p:nvSpPr>
        <p:spPr>
          <a:xfrm>
            <a:off x="285750" y="2821781"/>
            <a:ext cx="417909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Descripción del Diagrama de Actividad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85750" y="3195042"/>
            <a:ext cx="412467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El proceso comienza cuando el Ciudadano envía el formulario </a:t>
            </a:r>
            <a:endParaRPr lang="en-US" sz="1046" dirty="0"/>
          </a:p>
        </p:txBody>
      </p:sp>
      <p:sp>
        <p:nvSpPr>
          <p:cNvPr id="13" name="Text 10"/>
          <p:cNvSpPr/>
          <p:nvPr/>
        </p:nvSpPr>
        <p:spPr>
          <a:xfrm>
            <a:off x="285750" y="3409355"/>
            <a:ext cx="417181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 línea. Esto inicia flujos de validación que pueden ejecutarse </a:t>
            </a:r>
            <a:endParaRPr lang="en-US" sz="1046" dirty="0"/>
          </a:p>
        </p:txBody>
      </p:sp>
      <p:sp>
        <p:nvSpPr>
          <p:cNvPr id="14" name="Text 11"/>
          <p:cNvSpPr/>
          <p:nvPr/>
        </p:nvSpPr>
        <p:spPr>
          <a:xfrm>
            <a:off x="285750" y="3623667"/>
            <a:ext cx="20605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 </a:t>
            </a:r>
            <a:endParaRPr lang="en-US" sz="1046" dirty="0"/>
          </a:p>
        </p:txBody>
      </p:sp>
      <p:sp>
        <p:nvSpPr>
          <p:cNvPr id="15" name="Text 12"/>
          <p:cNvSpPr/>
          <p:nvPr/>
        </p:nvSpPr>
        <p:spPr>
          <a:xfrm>
            <a:off x="491803" y="3623667"/>
            <a:ext cx="58509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paralelo</a:t>
            </a:r>
            <a:endParaRPr lang="en-US" sz="1046" dirty="0"/>
          </a:p>
        </p:txBody>
      </p:sp>
      <p:sp>
        <p:nvSpPr>
          <p:cNvPr id="16" name="Text 13"/>
          <p:cNvSpPr/>
          <p:nvPr/>
        </p:nvSpPr>
        <p:spPr>
          <a:xfrm>
            <a:off x="1076892" y="3623667"/>
            <a:ext cx="3831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</a:t>
            </a:r>
            <a:endParaRPr lang="en-US" sz="1046" dirty="0"/>
          </a:p>
        </p:txBody>
      </p:sp>
      <p:sp>
        <p:nvSpPr>
          <p:cNvPr id="17" name="Shape 14"/>
          <p:cNvSpPr/>
          <p:nvPr/>
        </p:nvSpPr>
        <p:spPr>
          <a:xfrm>
            <a:off x="285750" y="4057650"/>
            <a:ext cx="199439" cy="214313"/>
          </a:xfrm>
          <a:prstGeom prst="ellipse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/>
          <p:nvPr/>
        </p:nvSpPr>
        <p:spPr>
          <a:xfrm>
            <a:off x="285750" y="4057650"/>
            <a:ext cx="19943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837" dirty="0"/>
          </a:p>
        </p:txBody>
      </p:sp>
      <p:sp>
        <p:nvSpPr>
          <p:cNvPr id="19" name="Text 16"/>
          <p:cNvSpPr/>
          <p:nvPr/>
        </p:nvSpPr>
        <p:spPr>
          <a:xfrm>
            <a:off x="592345" y="3971925"/>
            <a:ext cx="387249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 Agente Aduanero recibe una notificación para revisar el formulario</a:t>
            </a:r>
            <a:endParaRPr lang="en-US" sz="942" dirty="0"/>
          </a:p>
        </p:txBody>
      </p:sp>
      <p:sp>
        <p:nvSpPr>
          <p:cNvPr id="20" name="Shape 17"/>
          <p:cNvSpPr/>
          <p:nvPr/>
        </p:nvSpPr>
        <p:spPr>
          <a:xfrm>
            <a:off x="285750" y="4464844"/>
            <a:ext cx="214313" cy="214313"/>
          </a:xfrm>
          <a:prstGeom prst="ellipse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8"/>
          <p:cNvSpPr/>
          <p:nvPr/>
        </p:nvSpPr>
        <p:spPr>
          <a:xfrm>
            <a:off x="285750" y="4464844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837" dirty="0"/>
          </a:p>
        </p:txBody>
      </p:sp>
      <p:sp>
        <p:nvSpPr>
          <p:cNvPr id="22" name="Text 19"/>
          <p:cNvSpPr/>
          <p:nvPr/>
        </p:nvSpPr>
        <p:spPr>
          <a:xfrm>
            <a:off x="607219" y="4475559"/>
            <a:ext cx="363223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 sistema consulta al Sistema PDI para el control migratorio</a:t>
            </a:r>
            <a:endParaRPr lang="en-US" sz="942" dirty="0"/>
          </a:p>
        </p:txBody>
      </p:sp>
      <p:sp>
        <p:nvSpPr>
          <p:cNvPr id="23" name="Shape 20"/>
          <p:cNvSpPr/>
          <p:nvPr/>
        </p:nvSpPr>
        <p:spPr>
          <a:xfrm>
            <a:off x="285750" y="4872038"/>
            <a:ext cx="184259" cy="214313"/>
          </a:xfrm>
          <a:prstGeom prst="ellipse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1"/>
          <p:cNvSpPr/>
          <p:nvPr/>
        </p:nvSpPr>
        <p:spPr>
          <a:xfrm>
            <a:off x="285750" y="4872038"/>
            <a:ext cx="18425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837" dirty="0"/>
          </a:p>
        </p:txBody>
      </p:sp>
      <p:sp>
        <p:nvSpPr>
          <p:cNvPr id="25" name="Text 22"/>
          <p:cNvSpPr/>
          <p:nvPr/>
        </p:nvSpPr>
        <p:spPr>
          <a:xfrm>
            <a:off x="577165" y="4786313"/>
            <a:ext cx="388767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 sistema consulta al Sistema SAG para el control de productos y mascotas</a:t>
            </a:r>
            <a:endParaRPr lang="en-US" sz="942" dirty="0"/>
          </a:p>
        </p:txBody>
      </p:sp>
      <p:sp>
        <p:nvSpPr>
          <p:cNvPr id="26" name="Text 23"/>
          <p:cNvSpPr/>
          <p:nvPr/>
        </p:nvSpPr>
        <p:spPr>
          <a:xfrm>
            <a:off x="285750" y="5288161"/>
            <a:ext cx="399023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Tras las validaciones remotas, el Agente Aduanero realiza la </a:t>
            </a:r>
            <a:endParaRPr lang="en-US" sz="1046" dirty="0"/>
          </a:p>
        </p:txBody>
      </p:sp>
      <p:sp>
        <p:nvSpPr>
          <p:cNvPr id="27" name="Text 24"/>
          <p:cNvSpPr/>
          <p:nvPr/>
        </p:nvSpPr>
        <p:spPr>
          <a:xfrm>
            <a:off x="285750" y="5502473"/>
            <a:ext cx="363231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inspección física si corresponde y finalmente otorga la </a:t>
            </a:r>
            <a:endParaRPr lang="en-US" sz="1046" dirty="0"/>
          </a:p>
        </p:txBody>
      </p:sp>
      <p:sp>
        <p:nvSpPr>
          <p:cNvPr id="28" name="Text 25"/>
          <p:cNvSpPr/>
          <p:nvPr/>
        </p:nvSpPr>
        <p:spPr>
          <a:xfrm>
            <a:off x="285750" y="5716786"/>
            <a:ext cx="167735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autorización de ingreso</a:t>
            </a:r>
            <a:endParaRPr lang="en-US" sz="1046" dirty="0"/>
          </a:p>
        </p:txBody>
      </p:sp>
      <p:sp>
        <p:nvSpPr>
          <p:cNvPr id="29" name="Text 26"/>
          <p:cNvSpPr/>
          <p:nvPr/>
        </p:nvSpPr>
        <p:spPr>
          <a:xfrm>
            <a:off x="1963108" y="5716786"/>
            <a:ext cx="3831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 </a:t>
            </a:r>
            <a:endParaRPr lang="en-US" sz="1046" dirty="0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9178" y="885825"/>
            <a:ext cx="2759022" cy="35718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Modelo 4+1: Vista Física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300037" y="771525"/>
            <a:ext cx="417909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Propósito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85750" y="1118683"/>
            <a:ext cx="719749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Mostrar la </a:t>
            </a:r>
            <a:endParaRPr lang="en-US" sz="1046" dirty="0"/>
          </a:p>
        </p:txBody>
      </p:sp>
      <p:sp>
        <p:nvSpPr>
          <p:cNvPr id="6" name="Text 3"/>
          <p:cNvSpPr/>
          <p:nvPr/>
        </p:nvSpPr>
        <p:spPr>
          <a:xfrm>
            <a:off x="1005499" y="1092636"/>
            <a:ext cx="166206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topología del hardware</a:t>
            </a:r>
            <a:endParaRPr lang="en-US" sz="1046" dirty="0"/>
          </a:p>
        </p:txBody>
      </p:sp>
      <p:sp>
        <p:nvSpPr>
          <p:cNvPr id="7" name="Text 4"/>
          <p:cNvSpPr/>
          <p:nvPr/>
        </p:nvSpPr>
        <p:spPr>
          <a:xfrm>
            <a:off x="2592102" y="1109498"/>
            <a:ext cx="1684757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sobre la cual se despliega 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324291" y="1286843"/>
            <a:ext cx="3292568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el software y las conexiones de red entre los nodos. 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285750" y="1514195"/>
            <a:ext cx="417909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Descripción del Diagrama de Despliegue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285750" y="1789163"/>
            <a:ext cx="4179094" cy="321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El diagrama muestra la infraestructura física y las conexiones   entre los diferentes componentes del sistema: </a:t>
            </a:r>
            <a:endParaRPr lang="en-US" sz="1046" dirty="0"/>
          </a:p>
        </p:txBody>
      </p:sp>
      <p:sp>
        <p:nvSpPr>
          <p:cNvPr id="12" name="Shape 9"/>
          <p:cNvSpPr/>
          <p:nvPr/>
        </p:nvSpPr>
        <p:spPr>
          <a:xfrm>
            <a:off x="275783" y="2247846"/>
            <a:ext cx="28575" cy="550069"/>
          </a:xfrm>
          <a:prstGeom prst="rect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324291" y="2218202"/>
            <a:ext cx="40076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Cliente (Ciudadano Entrante)</a:t>
            </a:r>
            <a:endParaRPr lang="en-US" sz="837" dirty="0"/>
          </a:p>
        </p:txBody>
      </p:sp>
      <p:sp>
        <p:nvSpPr>
          <p:cNvPr id="14" name="Text 11"/>
          <p:cNvSpPr/>
          <p:nvPr/>
        </p:nvSpPr>
        <p:spPr>
          <a:xfrm>
            <a:off x="324291" y="2419516"/>
            <a:ext cx="2957541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Accede al formulario web desde su dispositivo (PC o móvil)</a:t>
            </a:r>
            <a:endParaRPr lang="en-US" sz="837" dirty="0"/>
          </a:p>
        </p:txBody>
      </p:sp>
      <p:sp>
        <p:nvSpPr>
          <p:cNvPr id="16" name="Shape 13"/>
          <p:cNvSpPr/>
          <p:nvPr/>
        </p:nvSpPr>
        <p:spPr>
          <a:xfrm>
            <a:off x="275783" y="2934715"/>
            <a:ext cx="28575" cy="721519"/>
          </a:xfrm>
          <a:prstGeom prst="rect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4"/>
          <p:cNvSpPr/>
          <p:nvPr/>
        </p:nvSpPr>
        <p:spPr>
          <a:xfrm>
            <a:off x="324291" y="2900843"/>
            <a:ext cx="40076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Servidor de Aduana</a:t>
            </a:r>
            <a:endParaRPr lang="en-US" sz="837" dirty="0"/>
          </a:p>
        </p:txBody>
      </p:sp>
      <p:sp>
        <p:nvSpPr>
          <p:cNvPr id="18" name="Text 15"/>
          <p:cNvSpPr/>
          <p:nvPr/>
        </p:nvSpPr>
        <p:spPr>
          <a:xfrm>
            <a:off x="324291" y="3097653"/>
            <a:ext cx="4007644" cy="1288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Ejecuta la aplicación principal y coordina la comunicación con sistemas externos</a:t>
            </a:r>
            <a:endParaRPr lang="en-US" sz="837" dirty="0"/>
          </a:p>
        </p:txBody>
      </p:sp>
      <p:sp>
        <p:nvSpPr>
          <p:cNvPr id="20" name="Shape 17"/>
          <p:cNvSpPr/>
          <p:nvPr/>
        </p:nvSpPr>
        <p:spPr>
          <a:xfrm>
            <a:off x="285750" y="3790000"/>
            <a:ext cx="28575" cy="721519"/>
          </a:xfrm>
          <a:prstGeom prst="rect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8"/>
          <p:cNvSpPr/>
          <p:nvPr/>
        </p:nvSpPr>
        <p:spPr>
          <a:xfrm>
            <a:off x="324291" y="3762009"/>
            <a:ext cx="40076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Sistemas Externos</a:t>
            </a:r>
            <a:endParaRPr lang="en-US" sz="837" dirty="0"/>
          </a:p>
        </p:txBody>
      </p:sp>
      <p:sp>
        <p:nvSpPr>
          <p:cNvPr id="22" name="Text 19"/>
          <p:cNvSpPr/>
          <p:nvPr/>
        </p:nvSpPr>
        <p:spPr>
          <a:xfrm>
            <a:off x="324291" y="3922046"/>
            <a:ext cx="4007644" cy="257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Nodos de sistemas como SAG, PDI, Carabineros y otros, que proporcionan información necesaria para la autorización del ingreso</a:t>
            </a:r>
            <a:endParaRPr lang="en-US" sz="837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7142" y="1443038"/>
            <a:ext cx="2483123" cy="32146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14313" y="214313"/>
            <a:ext cx="871537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Prototipo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14313" y="777991"/>
            <a:ext cx="8715375" cy="2899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El prototipo muestra visualmente cómo funcionará la plataforma, permitiendo identificar anticipadamente posibles errores o problemas para corregirlos antes de la implementación. </a:t>
            </a:r>
            <a:endParaRPr lang="en-US" sz="942" dirty="0"/>
          </a:p>
        </p:txBody>
      </p:sp>
      <p:sp>
        <p:nvSpPr>
          <p:cNvPr id="7" name="Shape 3"/>
          <p:cNvSpPr/>
          <p:nvPr/>
        </p:nvSpPr>
        <p:spPr>
          <a:xfrm>
            <a:off x="4491082" y="1384848"/>
            <a:ext cx="28575" cy="582216"/>
          </a:xfrm>
          <a:prstGeom prst="rect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4"/>
          <p:cNvSpPr/>
          <p:nvPr/>
        </p:nvSpPr>
        <p:spPr>
          <a:xfrm>
            <a:off x="4573506" y="1384848"/>
            <a:ext cx="2011769" cy="120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 err="1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Formularios</a:t>
            </a:r>
            <a:r>
              <a:rPr lang="en-US" sz="785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785" b="1" dirty="0" err="1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Ingresados</a:t>
            </a:r>
            <a:r>
              <a:rPr lang="en-US" sz="785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 </a:t>
            </a:r>
            <a:r>
              <a:rPr lang="en-US" sz="785" b="1" dirty="0" err="1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</a:t>
            </a:r>
            <a:r>
              <a:rPr lang="en-US" sz="785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Validar o no</a:t>
            </a:r>
            <a:endParaRPr lang="en-US" sz="785" dirty="0"/>
          </a:p>
        </p:txBody>
      </p:sp>
      <p:sp>
        <p:nvSpPr>
          <p:cNvPr id="9" name="Text 5"/>
          <p:cNvSpPr/>
          <p:nvPr/>
        </p:nvSpPr>
        <p:spPr>
          <a:xfrm>
            <a:off x="4572000" y="1599045"/>
            <a:ext cx="3779044" cy="2416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Una base de </a:t>
            </a:r>
            <a:r>
              <a:rPr lang="en-US" sz="785" dirty="0" err="1">
                <a:latin typeface="Noto Sans" pitchFamily="34" charset="0"/>
                <a:ea typeface="Noto Sans" pitchFamily="34" charset="-122"/>
                <a:cs typeface="Noto Sans" pitchFamily="34" charset="-120"/>
              </a:rPr>
              <a:t>datos</a:t>
            </a:r>
            <a:r>
              <a:rPr lang="en-US" sz="785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con </a:t>
            </a:r>
            <a:r>
              <a:rPr lang="en-US" sz="785" dirty="0" err="1">
                <a:latin typeface="Noto Sans" pitchFamily="34" charset="0"/>
                <a:ea typeface="Noto Sans" pitchFamily="34" charset="-122"/>
                <a:cs typeface="Noto Sans" pitchFamily="34" charset="-120"/>
              </a:rPr>
              <a:t>todos</a:t>
            </a:r>
            <a:r>
              <a:rPr lang="en-US" sz="785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785" dirty="0" err="1">
                <a:latin typeface="Noto Sans" pitchFamily="34" charset="0"/>
                <a:ea typeface="Noto Sans" pitchFamily="34" charset="-122"/>
                <a:cs typeface="Noto Sans" pitchFamily="34" charset="-120"/>
              </a:rPr>
              <a:t>los</a:t>
            </a:r>
            <a:r>
              <a:rPr lang="en-US" sz="785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785" dirty="0" err="1">
                <a:latin typeface="Noto Sans" pitchFamily="34" charset="0"/>
                <a:ea typeface="Noto Sans" pitchFamily="34" charset="-122"/>
                <a:cs typeface="Noto Sans" pitchFamily="34" charset="-120"/>
              </a:rPr>
              <a:t>formulario</a:t>
            </a:r>
            <a:r>
              <a:rPr lang="en-US" sz="785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y </a:t>
            </a:r>
            <a:r>
              <a:rPr lang="en-US" sz="785" dirty="0" err="1">
                <a:latin typeface="Noto Sans" pitchFamily="34" charset="0"/>
                <a:ea typeface="Noto Sans" pitchFamily="34" charset="-122"/>
                <a:cs typeface="Noto Sans" pitchFamily="34" charset="-120"/>
              </a:rPr>
              <a:t>Verifica</a:t>
            </a:r>
            <a:r>
              <a:rPr lang="en-US" sz="785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que el ciudadano haya pasado a otro país de forma legal y recopila información de identificación.</a:t>
            </a:r>
            <a:endParaRPr lang="en-US" sz="785" dirty="0"/>
          </a:p>
        </p:txBody>
      </p:sp>
      <p:sp>
        <p:nvSpPr>
          <p:cNvPr id="12" name="Shape 7"/>
          <p:cNvSpPr/>
          <p:nvPr/>
        </p:nvSpPr>
        <p:spPr>
          <a:xfrm>
            <a:off x="268337" y="1445466"/>
            <a:ext cx="28575" cy="582216"/>
          </a:xfrm>
          <a:prstGeom prst="rect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8"/>
          <p:cNvSpPr/>
          <p:nvPr/>
        </p:nvSpPr>
        <p:spPr>
          <a:xfrm>
            <a:off x="351896" y="1459742"/>
            <a:ext cx="377904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Declaración de Vehículos</a:t>
            </a:r>
            <a:endParaRPr lang="en-US" sz="785" dirty="0"/>
          </a:p>
        </p:txBody>
      </p:sp>
      <p:sp>
        <p:nvSpPr>
          <p:cNvPr id="14" name="Text 9"/>
          <p:cNvSpPr/>
          <p:nvPr/>
        </p:nvSpPr>
        <p:spPr>
          <a:xfrm>
            <a:off x="351896" y="1643898"/>
            <a:ext cx="2078397" cy="3624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El ciudadano completa la declaración de vehículos, ingresando datos como marca, modelo y patente.</a:t>
            </a:r>
            <a:endParaRPr lang="en-US" sz="785" dirty="0"/>
          </a:p>
        </p:txBody>
      </p:sp>
      <p:pic>
        <p:nvPicPr>
          <p:cNvPr id="2" name="image14.png">
            <a:extLst>
              <a:ext uri="{FF2B5EF4-FFF2-40B4-BE49-F238E27FC236}">
                <a16:creationId xmlns:a16="http://schemas.microsoft.com/office/drawing/2014/main" id="{CD299DA6-F53D-D683-AA14-2DC148C1A22E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558267" y="978049"/>
            <a:ext cx="1682597" cy="1758653"/>
          </a:xfrm>
          <a:prstGeom prst="rect">
            <a:avLst/>
          </a:prstGeom>
          <a:ln/>
        </p:spPr>
      </p:pic>
      <p:pic>
        <p:nvPicPr>
          <p:cNvPr id="6" name="image15.png">
            <a:extLst>
              <a:ext uri="{FF2B5EF4-FFF2-40B4-BE49-F238E27FC236}">
                <a16:creationId xmlns:a16="http://schemas.microsoft.com/office/drawing/2014/main" id="{DE240CA6-C00B-26DB-39E5-3D2715C97CE1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2558267" y="2736702"/>
            <a:ext cx="1682597" cy="1792211"/>
          </a:xfrm>
          <a:prstGeom prst="rect">
            <a:avLst/>
          </a:prstGeom>
          <a:ln/>
        </p:spPr>
      </p:pic>
      <p:pic>
        <p:nvPicPr>
          <p:cNvPr id="10" name="image20.png">
            <a:extLst>
              <a:ext uri="{FF2B5EF4-FFF2-40B4-BE49-F238E27FC236}">
                <a16:creationId xmlns:a16="http://schemas.microsoft.com/office/drawing/2014/main" id="{BA341E80-D08E-4A1C-BAAE-FDF6CEA5D979}"/>
              </a:ext>
            </a:extLst>
          </p:cNvPr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715094" y="2467069"/>
            <a:ext cx="1682597" cy="1992413"/>
          </a:xfrm>
          <a:prstGeom prst="rect">
            <a:avLst/>
          </a:prstGeom>
          <a:ln/>
        </p:spPr>
      </p:pic>
      <p:pic>
        <p:nvPicPr>
          <p:cNvPr id="11" name="image17.png">
            <a:extLst>
              <a:ext uri="{FF2B5EF4-FFF2-40B4-BE49-F238E27FC236}">
                <a16:creationId xmlns:a16="http://schemas.microsoft.com/office/drawing/2014/main" id="{0214F4FF-1532-E943-90FF-8C77B45A027B}"/>
              </a:ext>
            </a:extLst>
          </p:cNvPr>
          <p:cNvPicPr/>
          <p:nvPr/>
        </p:nvPicPr>
        <p:blipFill>
          <a:blip r:embed="rId6"/>
          <a:srcRect/>
          <a:stretch>
            <a:fillRect/>
          </a:stretch>
        </p:blipFill>
        <p:spPr>
          <a:xfrm>
            <a:off x="4291949" y="2060459"/>
            <a:ext cx="2104201" cy="1894239"/>
          </a:xfrm>
          <a:prstGeom prst="rect">
            <a:avLst/>
          </a:prstGeom>
          <a:ln/>
        </p:spPr>
      </p:pic>
      <p:pic>
        <p:nvPicPr>
          <p:cNvPr id="15" name="image12.png">
            <a:extLst>
              <a:ext uri="{FF2B5EF4-FFF2-40B4-BE49-F238E27FC236}">
                <a16:creationId xmlns:a16="http://schemas.microsoft.com/office/drawing/2014/main" id="{026BD42B-8456-CE9F-5C8F-7364E5575396}"/>
              </a:ext>
            </a:extLst>
          </p:cNvPr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6447235" y="2060459"/>
            <a:ext cx="2626317" cy="1894239"/>
          </a:xfrm>
          <a:prstGeom prst="rect">
            <a:avLst/>
          </a:prstGeom>
          <a:ln/>
        </p:spPr>
      </p:pic>
      <p:pic>
        <p:nvPicPr>
          <p:cNvPr id="20" name="image13.png">
            <a:extLst>
              <a:ext uri="{FF2B5EF4-FFF2-40B4-BE49-F238E27FC236}">
                <a16:creationId xmlns:a16="http://schemas.microsoft.com/office/drawing/2014/main" id="{B589754A-7DDB-0C9F-8843-915F5AA83642}"/>
              </a:ext>
            </a:extLst>
          </p:cNvPr>
          <p:cNvPicPr/>
          <p:nvPr/>
        </p:nvPicPr>
        <p:blipFill>
          <a:blip r:embed="rId8"/>
          <a:srcRect/>
          <a:stretch>
            <a:fillRect/>
          </a:stretch>
        </p:blipFill>
        <p:spPr>
          <a:xfrm>
            <a:off x="4573506" y="4048093"/>
            <a:ext cx="1601008" cy="1018934"/>
          </a:xfrm>
          <a:prstGeom prst="rect">
            <a:avLst/>
          </a:prstGeom>
          <a:ln/>
        </p:spPr>
      </p:pic>
      <p:pic>
        <p:nvPicPr>
          <p:cNvPr id="22" name="image10.png">
            <a:extLst>
              <a:ext uri="{FF2B5EF4-FFF2-40B4-BE49-F238E27FC236}">
                <a16:creationId xmlns:a16="http://schemas.microsoft.com/office/drawing/2014/main" id="{1A7D0DD1-A3FB-E0BC-8513-4799FE2CCC3A}"/>
              </a:ext>
            </a:extLst>
          </p:cNvPr>
          <p:cNvPicPr/>
          <p:nvPr/>
        </p:nvPicPr>
        <p:blipFill>
          <a:blip r:embed="rId9"/>
          <a:srcRect/>
          <a:stretch>
            <a:fillRect/>
          </a:stretch>
        </p:blipFill>
        <p:spPr>
          <a:xfrm>
            <a:off x="7022469" y="4048093"/>
            <a:ext cx="1601008" cy="1018934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14313" y="214313"/>
            <a:ext cx="871537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Requisitos de Calidad y Conclusiones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14313" y="850106"/>
            <a:ext cx="428625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Atributos de Calidad Principales</a:t>
            </a:r>
            <a:endParaRPr lang="en-US" sz="1238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13" y="1185863"/>
            <a:ext cx="142875" cy="1143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28625" y="1164431"/>
            <a:ext cx="63551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Usabilidad:</a:t>
            </a:r>
            <a:endParaRPr lang="en-US" sz="837" dirty="0"/>
          </a:p>
        </p:txBody>
      </p:sp>
      <p:sp>
        <p:nvSpPr>
          <p:cNvPr id="7" name="Text 3"/>
          <p:cNvSpPr/>
          <p:nvPr/>
        </p:nvSpPr>
        <p:spPr>
          <a:xfrm>
            <a:off x="1064140" y="1177710"/>
            <a:ext cx="3098605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Interfaz intuitiva para usuarios con distintos niveles digitales.</a:t>
            </a:r>
            <a:endParaRPr lang="en-US" sz="837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313" y="1414463"/>
            <a:ext cx="128588" cy="1143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4338" y="1393031"/>
            <a:ext cx="7679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Rendimiento:</a:t>
            </a:r>
            <a:endParaRPr lang="en-US" sz="837" dirty="0"/>
          </a:p>
        </p:txBody>
      </p:sp>
      <p:sp>
        <p:nvSpPr>
          <p:cNvPr id="10" name="Text 5"/>
          <p:cNvSpPr/>
          <p:nvPr/>
        </p:nvSpPr>
        <p:spPr>
          <a:xfrm>
            <a:off x="1182319" y="1406310"/>
            <a:ext cx="1593385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Tiempo de carga &lt; 3 segundos.</a:t>
            </a:r>
            <a:endParaRPr lang="en-US" sz="837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313" y="1643063"/>
            <a:ext cx="114300" cy="1143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00050" y="1621631"/>
            <a:ext cx="58991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Fiabilidad:</a:t>
            </a:r>
            <a:endParaRPr lang="en-US" sz="837" dirty="0"/>
          </a:p>
        </p:txBody>
      </p:sp>
      <p:sp>
        <p:nvSpPr>
          <p:cNvPr id="13" name="Text 7"/>
          <p:cNvSpPr/>
          <p:nvPr/>
        </p:nvSpPr>
        <p:spPr>
          <a:xfrm>
            <a:off x="989967" y="1634910"/>
            <a:ext cx="2348400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Disponibilidad del 99.5% en horario operativo.</a:t>
            </a:r>
            <a:endParaRPr lang="en-US" sz="837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313" y="1871663"/>
            <a:ext cx="100013" cy="1143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85763" y="1850231"/>
            <a:ext cx="6110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Seguridad:</a:t>
            </a:r>
            <a:endParaRPr lang="en-US" sz="837" dirty="0"/>
          </a:p>
        </p:txBody>
      </p:sp>
      <p:sp>
        <p:nvSpPr>
          <p:cNvPr id="16" name="Text 9"/>
          <p:cNvSpPr/>
          <p:nvPr/>
        </p:nvSpPr>
        <p:spPr>
          <a:xfrm>
            <a:off x="996832" y="1863510"/>
            <a:ext cx="2370842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Encriptación y protección de datos personales.</a:t>
            </a:r>
            <a:endParaRPr lang="en-US" sz="837" dirty="0"/>
          </a:p>
        </p:txBody>
      </p:sp>
      <p:sp>
        <p:nvSpPr>
          <p:cNvPr id="17" name="Text 10"/>
          <p:cNvSpPr/>
          <p:nvPr/>
        </p:nvSpPr>
        <p:spPr>
          <a:xfrm>
            <a:off x="214313" y="2121694"/>
            <a:ext cx="428625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0033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Conclusiones</a:t>
            </a:r>
            <a:endParaRPr lang="en-US" sz="1238" dirty="0"/>
          </a:p>
        </p:txBody>
      </p:sp>
      <p:sp>
        <p:nvSpPr>
          <p:cNvPr id="19" name="Shape 12"/>
          <p:cNvSpPr/>
          <p:nvPr/>
        </p:nvSpPr>
        <p:spPr>
          <a:xfrm>
            <a:off x="214313" y="2428875"/>
            <a:ext cx="28575" cy="574346"/>
          </a:xfrm>
          <a:prstGeom prst="rect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3"/>
          <p:cNvSpPr/>
          <p:nvPr/>
        </p:nvSpPr>
        <p:spPr>
          <a:xfrm>
            <a:off x="285750" y="2517121"/>
            <a:ext cx="161904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42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El</a:t>
            </a: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endParaRPr lang="en-US" sz="942" dirty="0"/>
          </a:p>
        </p:txBody>
      </p:sp>
      <p:sp>
        <p:nvSpPr>
          <p:cNvPr id="21" name="Text 14"/>
          <p:cNvSpPr/>
          <p:nvPr/>
        </p:nvSpPr>
        <p:spPr>
          <a:xfrm>
            <a:off x="423853" y="2502098"/>
            <a:ext cx="60822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prototipo</a:t>
            </a:r>
            <a:endParaRPr lang="en-US" sz="942" dirty="0"/>
          </a:p>
        </p:txBody>
      </p:sp>
      <p:sp>
        <p:nvSpPr>
          <p:cNvPr id="22" name="Text 15"/>
          <p:cNvSpPr/>
          <p:nvPr/>
        </p:nvSpPr>
        <p:spPr>
          <a:xfrm>
            <a:off x="1032077" y="2517121"/>
            <a:ext cx="2779607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ha sido clave para visualizar la funcionalidad del </a:t>
            </a:r>
            <a:endParaRPr lang="en-US" sz="942" dirty="0"/>
          </a:p>
        </p:txBody>
      </p:sp>
      <p:sp>
        <p:nvSpPr>
          <p:cNvPr id="23" name="Text 16"/>
          <p:cNvSpPr/>
          <p:nvPr/>
        </p:nvSpPr>
        <p:spPr>
          <a:xfrm>
            <a:off x="285750" y="2697138"/>
            <a:ext cx="2534348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sistema diseñado a través de los diagramas. </a:t>
            </a:r>
            <a:endParaRPr lang="en-US" sz="942" dirty="0"/>
          </a:p>
        </p:txBody>
      </p:sp>
      <p:sp>
        <p:nvSpPr>
          <p:cNvPr id="25" name="Shape 18"/>
          <p:cNvSpPr/>
          <p:nvPr/>
        </p:nvSpPr>
        <p:spPr>
          <a:xfrm>
            <a:off x="214313" y="3074659"/>
            <a:ext cx="28575" cy="574346"/>
          </a:xfrm>
          <a:prstGeom prst="rect">
            <a:avLst/>
          </a:prstGeom>
          <a:solidFill>
            <a:srgbClr val="0066C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Text 19"/>
          <p:cNvSpPr/>
          <p:nvPr/>
        </p:nvSpPr>
        <p:spPr>
          <a:xfrm>
            <a:off x="285750" y="3162905"/>
            <a:ext cx="193964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42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La</a:t>
            </a: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endParaRPr lang="en-US" sz="942" dirty="0"/>
          </a:p>
        </p:txBody>
      </p:sp>
      <p:sp>
        <p:nvSpPr>
          <p:cNvPr id="27" name="Text 20"/>
          <p:cNvSpPr/>
          <p:nvPr/>
        </p:nvSpPr>
        <p:spPr>
          <a:xfrm>
            <a:off x="458707" y="3147882"/>
            <a:ext cx="140430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arquitectura en capas</a:t>
            </a:r>
            <a:endParaRPr lang="en-US" sz="942" dirty="0"/>
          </a:p>
        </p:txBody>
      </p:sp>
      <p:sp>
        <p:nvSpPr>
          <p:cNvPr id="28" name="Text 21"/>
          <p:cNvSpPr/>
          <p:nvPr/>
        </p:nvSpPr>
        <p:spPr>
          <a:xfrm>
            <a:off x="1803271" y="3162905"/>
            <a:ext cx="125034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942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y</a:t>
            </a: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endParaRPr lang="en-US" sz="942" dirty="0"/>
          </a:p>
        </p:txBody>
      </p:sp>
      <p:sp>
        <p:nvSpPr>
          <p:cNvPr id="29" name="Text 22"/>
          <p:cNvSpPr/>
          <p:nvPr/>
        </p:nvSpPr>
        <p:spPr>
          <a:xfrm>
            <a:off x="1995478" y="3147882"/>
            <a:ext cx="25938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SOA</a:t>
            </a:r>
            <a:endParaRPr lang="en-US" sz="942" dirty="0"/>
          </a:p>
        </p:txBody>
      </p:sp>
      <p:sp>
        <p:nvSpPr>
          <p:cNvPr id="30" name="Text 23"/>
          <p:cNvSpPr/>
          <p:nvPr/>
        </p:nvSpPr>
        <p:spPr>
          <a:xfrm>
            <a:off x="2254858" y="3162905"/>
            <a:ext cx="1776127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proporcionan flexibilidad para </a:t>
            </a:r>
            <a:endParaRPr lang="en-US" sz="942" dirty="0"/>
          </a:p>
        </p:txBody>
      </p:sp>
      <p:sp>
        <p:nvSpPr>
          <p:cNvPr id="31" name="Text 24"/>
          <p:cNvSpPr/>
          <p:nvPr/>
        </p:nvSpPr>
        <p:spPr>
          <a:xfrm>
            <a:off x="285750" y="3342922"/>
            <a:ext cx="2090316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integrar sistemas gubernamentales. </a:t>
            </a:r>
            <a:endParaRPr lang="en-US" sz="942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0625" y="742950"/>
            <a:ext cx="3571875" cy="2000250"/>
          </a:xfrm>
          <a:prstGeom prst="rect">
            <a:avLst/>
          </a:prstGeom>
        </p:spPr>
      </p:pic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0625" y="2743200"/>
            <a:ext cx="3571875" cy="200025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85</TotalTime>
  <Words>908</Words>
  <Application>Microsoft Office PowerPoint</Application>
  <PresentationFormat>Presentación en pantalla (16:9)</PresentationFormat>
  <Paragraphs>179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Noto Sans</vt:lpstr>
      <vt:lpstr>Tw Cen MT</vt:lpstr>
      <vt:lpstr>Circuito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BRAYAN LEONARDO GODOY SEPULVEDA</cp:lastModifiedBy>
  <cp:revision>5</cp:revision>
  <dcterms:created xsi:type="dcterms:W3CDTF">2025-07-10T01:05:00Z</dcterms:created>
  <dcterms:modified xsi:type="dcterms:W3CDTF">2025-07-10T05:55:12Z</dcterms:modified>
</cp:coreProperties>
</file>