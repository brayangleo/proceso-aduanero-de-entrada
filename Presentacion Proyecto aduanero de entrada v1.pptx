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Quattrocento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bold.fntdata"/><Relationship Id="rId3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33" Type="http://schemas.openxmlformats.org/officeDocument/2006/relationships/font" Target="fonts/QuattrocentoSans-boldItalic.fntdata"/><Relationship Id="rId10" Type="http://schemas.openxmlformats.org/officeDocument/2006/relationships/slide" Target="slides/slide5.xml"/><Relationship Id="rId32" Type="http://schemas.openxmlformats.org/officeDocument/2006/relationships/font" Target="fonts/Quattrocento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991ec8d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991ec8d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991ec8d1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991ec8d1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991ec8d1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991ec8d1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991ec8d1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991ec8d1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991ec8d1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991ec8d1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991ec8d1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991ec8d1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991ec8d1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4991ec8d1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991ec8d1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991ec8d1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991ec8d1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991ec8d1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991ec8d1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991ec8d1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991ec8d1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991ec8d1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991ec8d1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4991ec8d1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991ec8d1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991ec8d1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991ec8d1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991ec8d1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991ec8d1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991ec8d1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73450" y="1362250"/>
            <a:ext cx="3894900" cy="19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/>
              <a:t>Proyecto</a:t>
            </a:r>
            <a:endParaRPr sz="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/>
              <a:t>La Familia</a:t>
            </a:r>
            <a:endParaRPr sz="50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6509225" y="3833675"/>
            <a:ext cx="2497800" cy="12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Nombres:  Brayan Godoy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        Fernando Soto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   Daniel Godoy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        Patricio </a:t>
            </a:r>
            <a:r>
              <a:rPr lang="es"/>
              <a:t>Maldonado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S</a:t>
            </a:r>
            <a:r>
              <a:rPr lang="es"/>
              <a:t>ección</a:t>
            </a:r>
            <a:r>
              <a:rPr lang="es"/>
              <a:t>: 001D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Fecha: 08/04/25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2550" y="634350"/>
            <a:ext cx="70389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Fases del Ciclo de Vida del Software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751800" y="1634800"/>
            <a:ext cx="7875000" cy="31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Identificación y levantamiento de requisitos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Análisis de viabilidad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Diseño del sistema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Desarrollo y codificación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Pruebas funcionales y no funcionales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 sz="1900"/>
              <a:t>Implementación y mantenimiento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Estrategia De Gestión Aplicada al Proyecto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427400" y="1379050"/>
            <a:ext cx="6779100" cy="18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</a:rPr>
              <a:t>Este proyecto busca digitalizar los procesos aduaneros mediante la automatización de documentación y la integración de sistemas. Su alcance abarca el análisis de requerimientos, evaluación de viabilidad y desarrollo de soluciones. Tendrá una duración estimada de 10 semanas y contempla recursos humanos y tecnológicos. Se gestionará con metodología ágil, utilizando herramientas como Trello y priorizando entregas funcionales con revisión continua.</a:t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052550" y="264050"/>
            <a:ext cx="7038900" cy="6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Propuesta De Solución Del Software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312300" y="16198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305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88938"/>
              <a:buFont typeface="Arial"/>
              <a:buChar char="●"/>
            </a:pPr>
            <a:r>
              <a:rPr lang="es" sz="1808"/>
              <a:t>Recolección y generación automática de documentación</a:t>
            </a:r>
            <a:br>
              <a:rPr lang="es" sz="1808"/>
            </a:br>
            <a:endParaRPr sz="1808"/>
          </a:p>
          <a:p>
            <a:pPr indent="-32305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8938"/>
              <a:buFont typeface="Arial"/>
              <a:buChar char="●"/>
            </a:pPr>
            <a:r>
              <a:rPr lang="es" sz="1808"/>
              <a:t>Integración entre sistemas aduaneros</a:t>
            </a:r>
            <a:br>
              <a:rPr lang="es" sz="1808"/>
            </a:br>
            <a:endParaRPr sz="1808"/>
          </a:p>
          <a:p>
            <a:pPr indent="-32305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8938"/>
              <a:buFont typeface="Arial"/>
              <a:buChar char="●"/>
            </a:pPr>
            <a:r>
              <a:rPr lang="es" sz="1808"/>
              <a:t>Informes estadísticos en tiempo real</a:t>
            </a:r>
            <a:br>
              <a:rPr lang="es" sz="1808"/>
            </a:br>
            <a:endParaRPr sz="1808"/>
          </a:p>
          <a:p>
            <a:pPr indent="-32305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8938"/>
              <a:buFont typeface="Arial"/>
              <a:buChar char="●"/>
            </a:pPr>
            <a:r>
              <a:rPr lang="es" sz="1808"/>
              <a:t>Control de procesos y seguridad de la información</a:t>
            </a:r>
            <a:br>
              <a:rPr lang="es" sz="1808"/>
            </a:br>
            <a:endParaRPr sz="1808"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0837"/>
              <a:buFont typeface="Arial"/>
              <a:buChar char="●"/>
            </a:pPr>
            <a:r>
              <a:rPr lang="es" sz="1808"/>
              <a:t>Adaptación total a reglas del negocio y normativas vigentes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164125" y="1752625"/>
            <a:ext cx="7038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</a:t>
            </a:r>
            <a:r>
              <a:rPr lang="es"/>
              <a:t>equisitos Funcionales y no Funcionales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2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2CC"/>
                </a:solidFill>
                <a:highlight>
                  <a:schemeClr val="dk1"/>
                </a:highlight>
              </a:rPr>
              <a:t>Planilla de requerimientos</a:t>
            </a:r>
            <a:endParaRPr b="1">
              <a:solidFill>
                <a:srgbClr val="FFF2CC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164850" y="1451175"/>
            <a:ext cx="4660500" cy="3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/>
              <a:t>R.1 - Análisis de Requerimientos</a:t>
            </a:r>
            <a:endParaRPr sz="3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2981">
                <a:latin typeface="Arial"/>
                <a:ea typeface="Arial"/>
                <a:cs typeface="Arial"/>
                <a:sym typeface="Arial"/>
              </a:rPr>
              <a:t>Tipo:</a:t>
            </a:r>
            <a:r>
              <a:rPr lang="es" sz="2981">
                <a:latin typeface="Arial"/>
                <a:ea typeface="Arial"/>
                <a:cs typeface="Arial"/>
                <a:sym typeface="Arial"/>
              </a:rPr>
              <a:t> Funcional de negocio</a:t>
            </a:r>
            <a:endParaRPr sz="298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2771">
                <a:latin typeface="Arial"/>
                <a:ea typeface="Arial"/>
                <a:cs typeface="Arial"/>
                <a:sym typeface="Arial"/>
              </a:rPr>
              <a:t>Descripción:</a:t>
            </a:r>
            <a:r>
              <a:rPr lang="es" sz="2771">
                <a:latin typeface="Arial"/>
                <a:ea typeface="Arial"/>
                <a:cs typeface="Arial"/>
                <a:sym typeface="Arial"/>
              </a:rPr>
              <a:t> Recolección de necesidades específicas para optimizar procesos aduaneros.</a:t>
            </a:r>
            <a:endParaRPr sz="277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3350"/>
              <a:t>R.2 - Definición de Alcance</a:t>
            </a:r>
            <a:endParaRPr sz="3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2963">
                <a:latin typeface="Arial"/>
                <a:ea typeface="Arial"/>
                <a:cs typeface="Arial"/>
                <a:sym typeface="Arial"/>
              </a:rPr>
              <a:t>Tipo:</a:t>
            </a:r>
            <a:r>
              <a:rPr lang="es" sz="2963">
                <a:latin typeface="Arial"/>
                <a:ea typeface="Arial"/>
                <a:cs typeface="Arial"/>
                <a:sym typeface="Arial"/>
              </a:rPr>
              <a:t> Funcional de negocio</a:t>
            </a:r>
            <a:endParaRPr sz="296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2963">
                <a:latin typeface="Arial"/>
                <a:ea typeface="Arial"/>
                <a:cs typeface="Arial"/>
                <a:sym typeface="Arial"/>
              </a:rPr>
              <a:t>Descripción:</a:t>
            </a:r>
            <a:r>
              <a:rPr lang="es" sz="2963">
                <a:latin typeface="Arial"/>
                <a:ea typeface="Arial"/>
                <a:cs typeface="Arial"/>
                <a:sym typeface="Arial"/>
              </a:rPr>
              <a:t> Delimitación clara de los procesos aduaneros que se automatizarán.</a:t>
            </a:r>
            <a:endParaRPr sz="296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3350"/>
              <a:t>R.4 - Automatización de Documentación</a:t>
            </a:r>
            <a:endParaRPr sz="3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3163">
                <a:latin typeface="Arial"/>
                <a:ea typeface="Arial"/>
                <a:cs typeface="Arial"/>
                <a:sym typeface="Arial"/>
              </a:rPr>
              <a:t>Tipo:</a:t>
            </a:r>
            <a:r>
              <a:rPr lang="es" sz="3163">
                <a:latin typeface="Arial"/>
                <a:ea typeface="Arial"/>
                <a:cs typeface="Arial"/>
                <a:sym typeface="Arial"/>
              </a:rPr>
              <a:t> Funcional de sistemas</a:t>
            </a:r>
            <a:endParaRPr sz="316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2981">
                <a:latin typeface="Arial"/>
                <a:ea typeface="Arial"/>
                <a:cs typeface="Arial"/>
                <a:sym typeface="Arial"/>
              </a:rPr>
              <a:t>Descripción:</a:t>
            </a:r>
            <a:r>
              <a:rPr lang="es" sz="2981">
                <a:latin typeface="Arial"/>
                <a:ea typeface="Arial"/>
                <a:cs typeface="Arial"/>
                <a:sym typeface="Arial"/>
              </a:rPr>
              <a:t> Procesos automáticos para generar y archivar documentación aduanera.</a:t>
            </a:r>
            <a:endParaRPr sz="298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489525" y="387925"/>
            <a:ext cx="53841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Requisitos Funcionales y No Funcionales mínimos para el desarrollo del software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065950" y="1194625"/>
            <a:ext cx="3886800" cy="3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</a:rPr>
              <a:t>R.8 - Pruebas Funcionales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100">
                <a:solidFill>
                  <a:schemeClr val="lt1"/>
                </a:solidFill>
              </a:rPr>
              <a:t>Tipo:</a:t>
            </a:r>
            <a:r>
              <a:rPr lang="es" sz="1100">
                <a:solidFill>
                  <a:schemeClr val="lt1"/>
                </a:solidFill>
              </a:rPr>
              <a:t> No funcional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100">
                <a:solidFill>
                  <a:schemeClr val="lt1"/>
                </a:solidFill>
              </a:rPr>
              <a:t>Descripción:</a:t>
            </a:r>
            <a:r>
              <a:rPr lang="es" sz="1100">
                <a:solidFill>
                  <a:schemeClr val="lt1"/>
                </a:solidFill>
              </a:rPr>
              <a:t> Verificación de que los sistemas cumplen con los requerimientos definidos.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</a:rPr>
              <a:t>R.9 - Pruebas de Seguridad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100">
                <a:solidFill>
                  <a:schemeClr val="lt1"/>
                </a:solidFill>
              </a:rPr>
              <a:t>Tipo:</a:t>
            </a:r>
            <a:r>
              <a:rPr lang="es" sz="1100">
                <a:solidFill>
                  <a:schemeClr val="lt1"/>
                </a:solidFill>
              </a:rPr>
              <a:t> No funcional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100">
                <a:solidFill>
                  <a:schemeClr val="lt1"/>
                </a:solidFill>
              </a:rPr>
              <a:t>Descripción:</a:t>
            </a:r>
            <a:r>
              <a:rPr lang="es" sz="1100">
                <a:solidFill>
                  <a:schemeClr val="lt1"/>
                </a:solidFill>
              </a:rPr>
              <a:t> Validación de la seguridad en el tratamiento de información confidencial.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</a:rPr>
              <a:t>R.10 - Pruebas de Rendimiento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100">
                <a:solidFill>
                  <a:schemeClr val="lt1"/>
                </a:solidFill>
              </a:rPr>
              <a:t>Tipo:</a:t>
            </a:r>
            <a:r>
              <a:rPr lang="es" sz="1100">
                <a:solidFill>
                  <a:schemeClr val="lt1"/>
                </a:solidFill>
              </a:rPr>
              <a:t> No funcional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100">
                <a:solidFill>
                  <a:schemeClr val="lt1"/>
                </a:solidFill>
              </a:rPr>
              <a:t>Descripción:</a:t>
            </a:r>
            <a:r>
              <a:rPr lang="es" sz="1100">
                <a:solidFill>
                  <a:schemeClr val="lt1"/>
                </a:solidFill>
              </a:rPr>
              <a:t> Evaluación del desempeño del sistema bajo diferentes condiciones de carga.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Procesos manuales excesivos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45720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Aptos"/>
                <a:ea typeface="Aptos"/>
                <a:cs typeface="Aptos"/>
                <a:sym typeface="Aptos"/>
              </a:rPr>
              <a:t>Problemas: 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Mucha carga operativa manual en la gestión documental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0" lvl="0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 y en la revisión de procesos aduaneros.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Esto genera lentitud, errores humanos y poca eficiencia.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ptos"/>
              <a:ea typeface="Aptos"/>
              <a:cs typeface="Aptos"/>
              <a:sym typeface="Aptos"/>
            </a:endParaRPr>
          </a:p>
          <a:p>
            <a:pPr indent="45720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Automatización de documentación</a:t>
            </a:r>
            <a:endParaRPr i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Control y automatización de procesos</a:t>
            </a:r>
            <a:endParaRPr i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Integración de sistemas de información</a:t>
            </a:r>
            <a:br>
              <a:rPr lang="es" sz="1200">
                <a:latin typeface="Aptos"/>
                <a:ea typeface="Aptos"/>
                <a:cs typeface="Aptos"/>
                <a:sym typeface="Aptos"/>
              </a:rPr>
            </a:br>
            <a:r>
              <a:rPr lang="es" sz="1200">
                <a:latin typeface="Quattrocento Sans"/>
                <a:ea typeface="Quattrocento Sans"/>
                <a:cs typeface="Quattrocento Sans"/>
                <a:sym typeface="Quattrocento Sans"/>
              </a:rPr>
              <a:t>➔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Estos requerimientos atacan directamente este problema.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Falta de integración entre sistemas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56350" y="16087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b="1" lang="es" sz="1200"/>
              <a:t>P</a:t>
            </a:r>
            <a:r>
              <a:rPr b="1" lang="es" sz="1200"/>
              <a:t>roblemas:</a:t>
            </a:r>
            <a:endParaRPr b="1" sz="1200"/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Los sistemas actuales no están interconectados.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No hay flujo eficiente de información entre las plataformas internas y externas (otras agencias, importadores/exportadores).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Integración de sistemas de información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es el requerimiento central para resolverlo.</a:t>
            </a:r>
            <a:endParaRPr sz="1200"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Baja trazabilidad de las operaciones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Problemas: 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No se puede hacer seguimiento en tiempo real de los procesos aduaneros.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Dificultad para detectar cuellos de botella o incidencias.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45720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Generación de informes estadísticos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Control de avances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s" sz="1200">
                <a:latin typeface="Quattrocento Sans"/>
                <a:ea typeface="Quattrocento Sans"/>
                <a:cs typeface="Quattrocento Sans"/>
                <a:sym typeface="Quattrocento Sans"/>
              </a:rPr>
              <a:t>➔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Ambos ayudan a lograr trazabilidad, aunque si quieres podemos hacer más específico un requerimiento que hable de </a:t>
            </a:r>
            <a:r>
              <a:rPr i="1" lang="es" sz="1200">
                <a:latin typeface="Aptos"/>
                <a:ea typeface="Aptos"/>
                <a:cs typeface="Aptos"/>
                <a:sym typeface="Aptos"/>
              </a:rPr>
              <a:t>seguimiento en tiempo real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.</a:t>
            </a:r>
            <a:endParaRPr sz="1200"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Escasa generación de reportes automáticos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Problemas: 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La toma de decisiones es lenta porque los informes se generan manualmente o con datos incompletos.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Generación de informes estadísticos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lo cubre completamente.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Seguridad de la información limitada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Aptos"/>
                <a:ea typeface="Aptos"/>
                <a:cs typeface="Aptos"/>
                <a:sym typeface="Aptos"/>
              </a:rPr>
              <a:t>Problemas: 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Riesgos asociados al manejo manual y la dispersión de datos sensibles.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Vulnerabilidad ante accesos no autorizados.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Pruebas de seguridad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Integración de sistemas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(si incluimos protocolos de seguridad)</a:t>
            </a:r>
            <a:endParaRPr sz="1200"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Falta de automatización en los controles de riesgos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Problemas: 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Procesos de control y fiscalización dependen mucho de revisiones manuales.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Aumenta el riesgo de fraudes o errores en la verificación de mercancías.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45720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Gestión de riesgos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es un buen inicio.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Control y automatización de procesos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también ayuda, pero si quieres estar más fuerte, podríamos añadir un requerimiento más explícito tipo: </a:t>
            </a:r>
            <a:r>
              <a:rPr i="1" lang="es" sz="1200">
                <a:latin typeface="Aptos"/>
                <a:ea typeface="Aptos"/>
                <a:cs typeface="Aptos"/>
                <a:sym typeface="Aptos"/>
              </a:rPr>
              <a:t>Automatización de controles de riesgos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.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Falta de capacitación adecuada para el personal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Problemas: 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Los funcionarios no están familiarizados con procesos automatizados.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Hay necesidad urgente de entrenamiento para la adopción de nuevas tecnologías.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45720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Capacitación a los usuarios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cubre esto de manera directa.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Soporte técnico insuficiente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Problemas: 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No existe un plan de soporte y mantenimiento eficiente para los sistemas actuales.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Ante fallas o incidentes, las respuestas son lentas.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45720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Soporte continuo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es el requerimiento perfecto aquí.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Comunicación limitada con stakeholders externos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Problemas: 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Falta de canales efectivos de comunicación con agencias reguladoras, operadores logísticos, importadores y exportadores.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45720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Comunicación con stakeholders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lo cubre de manera clara.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Gestión de riesgos poco estructurada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b="1" lang="es" sz="1200">
                <a:latin typeface="Aptos"/>
                <a:ea typeface="Aptos"/>
                <a:cs typeface="Aptos"/>
                <a:sym typeface="Aptos"/>
              </a:rPr>
              <a:t>Problemas: 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000"/>
              <a:buFont typeface="Courier New"/>
              <a:buChar char="o"/>
            </a:pPr>
            <a:r>
              <a:rPr lang="es" sz="1200">
                <a:latin typeface="Aptos"/>
                <a:ea typeface="Aptos"/>
                <a:cs typeface="Aptos"/>
                <a:sym typeface="Aptos"/>
              </a:rPr>
              <a:t>No se ha implementado una matriz de riesgos clara para anticipar amenazas que puedan afectar la operación.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indent="45720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200">
                <a:latin typeface="Aptos"/>
                <a:ea typeface="Aptos"/>
                <a:cs typeface="Aptos"/>
                <a:sym typeface="Aptos"/>
              </a:rPr>
              <a:t>Soluciones: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  <a:p>
            <a:pPr indent="-292100" lvl="1" marL="91440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SzPts val="1000"/>
              <a:buFont typeface="Courier New"/>
              <a:buChar char="o"/>
            </a:pPr>
            <a:r>
              <a:rPr i="1" lang="es" sz="1200">
                <a:latin typeface="Aptos"/>
                <a:ea typeface="Aptos"/>
                <a:cs typeface="Aptos"/>
                <a:sym typeface="Aptos"/>
              </a:rPr>
              <a:t>Gestión de riesgos</a:t>
            </a:r>
            <a:r>
              <a:rPr lang="es" sz="1200">
                <a:latin typeface="Aptos"/>
                <a:ea typeface="Aptos"/>
                <a:cs typeface="Aptos"/>
                <a:sym typeface="Aptos"/>
              </a:rPr>
              <a:t> está bien pensado para resolver este punto</a:t>
            </a:r>
            <a:endParaRPr b="1" sz="1200"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